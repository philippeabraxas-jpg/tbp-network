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9947580-5387-153a-bd6e-5f07881fee3d}">
          <p14:sldIdLst>
            <p14:sldId id="256"/>
          </p14:sldIdLst>
        </p14:section>
        <p14:section name="Problem" id="{f74a61fc-d14e-b420-58ca-55678d35f7d3}">
          <p14:sldIdLst>
            <p14:sldId id="257"/>
          </p14:sldIdLst>
        </p14:section>
        <p14:section name="Why now" id="{52b73050-078e-459a-c12f-6fe0e7221966}">
          <p14:sldIdLst>
            <p14:sldId id="258"/>
          </p14:sldIdLst>
        </p14:section>
        <p14:section name="Gap" id="{e437af72-cdb5-8b4a-c80b-e109486aea3c}">
          <p14:sldIdLst>
            <p14:sldId id="259"/>
          </p14:sldIdLst>
        </p14:section>
        <p14:section name="Solution" id="{7cf760ac-2994-cf1f-0a85-037d1845c9b1}">
          <p14:sldIdLst>
            <p14:sldId id="260"/>
            <p14:sldId id="261"/>
          </p14:sldIdLst>
        </p14:section>
        <p14:section name="Evidence" id="{d3e37a50-e3ec-ebf2-fbe6-d0631427b55f}">
          <p14:sldIdLst>
            <p14:sldId id="262"/>
          </p14:sldIdLst>
        </p14:section>
        <p14:section name="Compliance" id="{558c88c6-26e0-906f-de4e-942458d75c0b}">
          <p14:sldIdLst>
            <p14:sldId id="263"/>
          </p14:sldIdLst>
        </p14:section>
        <p14:section name="Product" id="{2c8a396d-cafa-2f08-0248-c72b970114ab}">
          <p14:sldIdLst>
            <p14:sldId id="264"/>
          </p14:sldIdLst>
        </p14:section>
        <p14:section name="Business" id="{c0750d71-ad72-d070-d07b-bc7e64de562b}">
          <p14:sldIdLst>
            <p14:sldId id="265"/>
          </p14:sldIdLst>
        </p14:section>
        <p14:section name="Next" id="{9f28d3f7-bb97-58a1-291f-f5bf1295527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sentence: INVARIAN makes every action of an AI agent decidable before execution and provable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metr.org/blog/2026-08-26-openai-hugging-face-incident-investigation. This incident illustrates the failure TBP targets; it is not a TBP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Regulation (EU) 2024/1689 for high-risk systems. The regulation prescribes demonstrations, not an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places overlapping approaches; it does not pit them against each other. Microsoft's toolkit already intercepts tool calls before execution; the difference is in the quality of the evidence and in behaviour on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reaches your systems without going through a single control point that keeps a record of its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record contains the fingerprint of the data, not the data (hash-only), so the registry can be shown to an auditor without exposing personal or confidential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static review does not establish the absence of flaws; a dynamic campaign is part of the validation lab. Compliance mappings are mappings, not certifications.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regulation prescribes demonstrations, not an architecture. For an agent that acts on systems, these demonstrations can only be made where the action is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2 is the next deployment: first cloud pilot with measured friction budget (added tier-1 latency under 5 ms, human arbitration under 10 percent of actions).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sensitive companies and those subject to, or preparing for, EU AI Act obligations. First pilots under way with critical-infrastructure operators (OIV). No pricing or market figures are shown because none are measured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raise amount and runway here if desired. State of implementation as of 4 October 2026 (whitepaper section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Avidost · INVARIAN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5"/>
                </a:solidFill>
              </a:rPr>
              <a:t>AVIDOST · INVARIAN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act.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prove what they did.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Attested governance of AI agent actions, built for EU AI Act compliance.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Avidost SAS · Paris · invarian.fr · Based on TBP (Apache 2.0)</a:t>
            </a:r>
            <a:endParaRPr lang="en-US" sz="1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Agents with tools no longer just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Hugging Face incident, July 2026 (METR / Redwood Research, Aug 2026)</a:t>
            </a:r>
            <a:endParaRPr lang="en-US" sz="1400" dirty="0"/>
          </a:p>
        </p:txBody>
      </p:sp>
      <p:sp>
        <p:nvSpPr>
          <p:cNvPr id="4" name="Stat card ~1,200"/>
          <p:cNvSpPr/>
          <p:nvPr/>
        </p:nvSpPr>
        <p:spPr>
          <a:xfrm>
            <a:off x="457200" y="160020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tat ~1,200"/>
          <p:cNvSpPr txBox="1"/>
          <p:nvPr/>
        </p:nvSpPr>
        <p:spPr>
          <a:xfrm>
            <a:off x="59436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~1,200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agent instances coordinated over an unauthorized channel</a:t>
            </a:r>
            <a:endParaRPr lang="en-US" sz="1400" dirty="0"/>
          </a:p>
        </p:txBody>
      </p:sp>
      <p:sp>
        <p:nvSpPr>
          <p:cNvPr id="7" name="Stat card ~700"/>
          <p:cNvSpPr/>
          <p:nvPr/>
        </p:nvSpPr>
        <p:spPr>
          <a:xfrm>
            <a:off x="3291840" y="160020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tat ~700"/>
          <p:cNvSpPr txBox="1"/>
          <p:nvPr/>
        </p:nvSpPr>
        <p:spPr>
          <a:xfrm>
            <a:off x="342900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~700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went further: used credentials in their environment</a:t>
            </a:r>
            <a:endParaRPr lang="en-US" sz="1400" dirty="0"/>
          </a:p>
        </p:txBody>
      </p:sp>
      <p:sp>
        <p:nvSpPr>
          <p:cNvPr id="10" name="Stat card ≈ 7%"/>
          <p:cNvSpPr/>
          <p:nvPr/>
        </p:nvSpPr>
        <p:spPr>
          <a:xfrm>
            <a:off x="6126480" y="160020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tat ≈ 7%"/>
          <p:cNvSpPr txBox="1"/>
          <p:nvPr/>
        </p:nvSpPr>
        <p:spPr>
          <a:xfrm>
            <a:off x="626364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≈ 7%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analyzed cases: tool-call logs falsified by the agents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37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agents knew the rule and did not follow it. An instruction is not a barrier, and a log the agent can influence is not evidence.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After an incident, three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“Was the action authorized?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decided?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prove it?”</a:t>
            </a:r>
            <a:endParaRPr lang="en-US" sz="3200" dirty="0"/>
          </a:p>
        </p:txBody>
      </p:sp>
      <p:sp>
        <p:nvSpPr>
          <p:cNvPr id="4" name="Article card Art. 12"/>
          <p:cNvSpPr/>
          <p:nvPr/>
        </p:nvSpPr>
        <p:spPr>
          <a:xfrm>
            <a:off x="45720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101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Art. 12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Automatic, secure record-keeping</a:t>
            </a:r>
            <a:endParaRPr lang="en-US" sz="1400" dirty="0"/>
          </a:p>
        </p:txBody>
      </p:sp>
      <p:sp>
        <p:nvSpPr>
          <p:cNvPr id="7" name="Article card Art. 14"/>
          <p:cNvSpPr/>
          <p:nvPr/>
        </p:nvSpPr>
        <p:spPr>
          <a:xfrm>
            <a:off x="324612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33101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Art. 14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Effective human oversight</a:t>
            </a:r>
            <a:endParaRPr lang="en-US" sz="1400" dirty="0"/>
          </a:p>
        </p:txBody>
      </p:sp>
      <p:sp>
        <p:nvSpPr>
          <p:cNvPr id="10" name="Article card Art. 15"/>
          <p:cNvSpPr/>
          <p:nvPr/>
        </p:nvSpPr>
        <p:spPr>
          <a:xfrm>
            <a:off x="6035040" y="320040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3101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Art. 15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Robustness and cybersecurity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Detect, prevent, prove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164592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Solution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Detect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Prevent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Prove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Guardrails AI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Covered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Not documented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Arthur AI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Covered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Not documented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Microsoft Agent Governance Toolkit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Covered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Covered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TBP / INVARIAN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Covered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Covered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Detecting without preventing is a witness. Preventing without proving is a lock without a key.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Reading of each vendor's public documentation, 4 Oct 2026. “Not documented” does not mean “absent”. Microsoft's toolkit is a public preview (MIT). To be re-validated with each vendor.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model proposes, the protocol disposes</a:t>
            </a:r>
            <a:endParaRPr lang="en-US" sz="3000" dirty="0"/>
          </a:p>
        </p:txBody>
      </p:sp>
      <p:sp>
        <p:nvSpPr>
          <p:cNvPr id="3" name="Step LLM agent"/>
          <p:cNvSpPr/>
          <p:nvPr/>
        </p:nvSpPr>
        <p:spPr>
          <a:xfrm>
            <a:off x="457200" y="14630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188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LLM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proposes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›</a:t>
            </a:r>
            <a:endParaRPr lang="en-US" sz="2000" dirty="0"/>
          </a:p>
        </p:txBody>
      </p:sp>
      <p:sp>
        <p:nvSpPr>
          <p:cNvPr id="6" name="Step Translator"/>
          <p:cNvSpPr/>
          <p:nvPr/>
        </p:nvSpPr>
        <p:spPr>
          <a:xfrm>
            <a:off x="1865376" y="14630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5376" y="1463040"/>
            <a:ext cx="1188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Translator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restates the action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54096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tep Broker"/>
          <p:cNvSpPr/>
          <p:nvPr/>
        </p:nvSpPr>
        <p:spPr>
          <a:xfrm>
            <a:off x="3273552" y="14630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3552" y="1463040"/>
            <a:ext cx="1188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Broker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single gateway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tep OPA"/>
          <p:cNvSpPr/>
          <p:nvPr/>
        </p:nvSpPr>
        <p:spPr>
          <a:xfrm>
            <a:off x="4681728" y="14630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1463040"/>
            <a:ext cx="1188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fixed rules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Step Verdict"/>
          <p:cNvSpPr/>
          <p:nvPr/>
        </p:nvSpPr>
        <p:spPr>
          <a:xfrm>
            <a:off x="6089904" y="14630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9904" y="1463040"/>
            <a:ext cx="1188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Verdict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allow / deny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78624" y="16916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tep Audit"/>
          <p:cNvSpPr/>
          <p:nvPr/>
        </p:nvSpPr>
        <p:spPr>
          <a:xfrm>
            <a:off x="7498080" y="14630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463040"/>
            <a:ext cx="1188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signed record</a:t>
            </a:r>
            <a:endParaRPr lang="en-US" sz="1400" dirty="0"/>
          </a:p>
        </p:txBody>
      </p:sp>
      <p:sp>
        <p:nvSpPr>
          <p:cNvPr id="20" name="Audit registry"/>
          <p:cNvSpPr/>
          <p:nvPr/>
        </p:nvSpPr>
        <p:spPr>
          <a:xfrm>
            <a:off x="457200" y="26974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Audit registry: Merkle chain · hardware signature · third-party timestamp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the translated action is judged, and only it can be executed.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Fail-closed: when in doubt, or on failure, the answer is a traced refusal.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agent stays free to think; its action is controlled.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things a third party can verify</a:t>
            </a:r>
            <a:endParaRPr lang="en-US" sz="3000" dirty="0"/>
          </a:p>
        </p:txBody>
      </p:sp>
      <p:sp>
        <p:nvSpPr>
          <p:cNvPr id="3" name="Card Hardware-key signature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Hardware-key signature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signing key sits in an HSM and cannot be copied off the machine.</a:t>
            </a:r>
            <a:endParaRPr lang="en-US" sz="1400" dirty="0"/>
          </a:p>
        </p:txBody>
      </p:sp>
      <p:sp>
        <p:nvSpPr>
          <p:cNvPr id="6" name="Card Third-party timestamp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Third-party timestamp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RFC 3161: no one, agent or operator, can backdate a decision.</a:t>
            </a:r>
            <a:endParaRPr lang="en-US" sz="1400" dirty="0"/>
          </a:p>
        </p:txBody>
      </p:sp>
      <p:sp>
        <p:nvSpPr>
          <p:cNvPr id="9" name="Card k-of-n co-signature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k-of-n co-signature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irreversible action needs k people out of n before it runs (k ≥ 2).</a:t>
            </a:r>
            <a:endParaRPr lang="en-US" sz="1400" dirty="0"/>
          </a:p>
        </p:txBody>
      </p:sp>
      <p:sp>
        <p:nvSpPr>
          <p:cNvPr id="12" name="Card Fail-closed doctrine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Fail-closed doctrine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failure is never turned into an authorization. The cost is availability, written down.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measured, dated and reproducible</a:t>
            </a:r>
            <a:endParaRPr lang="en-US" sz="3000" dirty="0"/>
          </a:p>
        </p:txBody>
      </p:sp>
      <p:sp>
        <p:nvSpPr>
          <p:cNvPr id="3" name="Stat card 240+"/>
          <p:cNvSpPr/>
          <p:nvPr/>
        </p:nvSpPr>
        <p:spPr>
          <a:xfrm>
            <a:off x="457200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tat 240+"/>
          <p:cNvSpPr txBox="1"/>
          <p:nvPr/>
        </p:nvSpPr>
        <p:spPr>
          <a:xfrm>
            <a:off x="59436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240+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automated end-to-end checks on the real programs</a:t>
            </a:r>
            <a:endParaRPr lang="en-US" sz="1400" dirty="0"/>
          </a:p>
        </p:txBody>
      </p:sp>
      <p:sp>
        <p:nvSpPr>
          <p:cNvPr id="6" name="Stat card 22"/>
          <p:cNvSpPr/>
          <p:nvPr/>
        </p:nvSpPr>
        <p:spPr>
          <a:xfrm>
            <a:off x="2423160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Stat 22"/>
          <p:cNvSpPr txBox="1"/>
          <p:nvPr/>
        </p:nvSpPr>
        <p:spPr>
          <a:xfrm>
            <a:off x="256032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red-team findings; no unmitigated fraud flaw</a:t>
            </a:r>
            <a:endParaRPr lang="en-US" sz="1400" dirty="0"/>
          </a:p>
        </p:txBody>
      </p:sp>
      <p:sp>
        <p:nvSpPr>
          <p:cNvPr id="9" name="Stat card ≈ 3 ms"/>
          <p:cNvSpPr/>
          <p:nvPr/>
        </p:nvSpPr>
        <p:spPr>
          <a:xfrm>
            <a:off x="4389120" y="118872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tat ≈ 3 ms"/>
          <p:cNvSpPr txBox="1"/>
          <p:nvPr/>
        </p:nvSpPr>
        <p:spPr>
          <a:xfrm>
            <a:off x="452628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≈ 3 ms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decision latency p99, dev machine</a:t>
            </a:r>
            <a:endParaRPr lang="en-US" sz="1400" dirty="0"/>
          </a:p>
        </p:txBody>
      </p:sp>
      <p:sp>
        <p:nvSpPr>
          <p:cNvPr id="12" name="Stat card 21"/>
          <p:cNvSpPr/>
          <p:nvPr/>
        </p:nvSpPr>
        <p:spPr>
          <a:xfrm>
            <a:off x="6355080" y="1188720"/>
            <a:ext cx="23317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tat 21"/>
          <p:cNvSpPr txBox="1"/>
          <p:nvPr/>
        </p:nvSpPr>
        <p:spPr>
          <a:xfrm>
            <a:off x="6492240" y="1325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compliance mappings, read control by control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Selftest runs on every code change (CI); fixes are mutation-tested.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 team 1 Oct 2026: 5 passes, 25 files, static analysis. The high-severity finding is fixed and covered.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Latency measured on a 4-CPU development VM (2 Oct 2026): not a production result.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github.com/philippeabraxas-jpg/TBP-NETWORK (tests/, docs/audits/, tbp-compliance/)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EU AI Act: a mechanism, not a procedure</a:t>
            </a:r>
            <a:endParaRPr lang="en-US" sz="3000" dirty="0"/>
          </a:p>
        </p:txBody>
      </p:sp>
      <p:sp>
        <p:nvSpPr>
          <p:cNvPr id="3" name="Row Art. 12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Art. 12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234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Record-keeping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Merkle chain, hash-only records, hardware signature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234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Covered</a:t>
            </a:r>
            <a:endParaRPr lang="en-US" sz="1500" dirty="0"/>
          </a:p>
        </p:txBody>
      </p:sp>
      <p:sp>
        <p:nvSpPr>
          <p:cNvPr id="7" name="Row Art. 14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Art. 14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148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Human oversight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k-of-n co-signature before an irreversible action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48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Covered</a:t>
            </a:r>
            <a:endParaRPr lang="en-US" sz="1500" dirty="0"/>
          </a:p>
        </p:txBody>
      </p:sp>
      <p:sp>
        <p:nvSpPr>
          <p:cNvPr id="11" name="Row Art. 15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Art. 15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Robustness, cybersecurity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HSM key, mTLS, anti-replay, fail-closed, signed rule bundle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063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Covered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Art. 9, 10, 11, 13, 27, 43 (risk management, data, documentation, transparency, impact and conformity assessment) are organizational: out of scope, but TBP supplies records and stable reason codes to cite. “Covered” is not an attestation of compliance.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code base. The scale is a setting</a:t>
            </a:r>
            <a:endParaRPr lang="en-US" sz="3000" dirty="0"/>
          </a:p>
        </p:txBody>
      </p:sp>
      <p:sp>
        <p:nvSpPr>
          <p:cNvPr id="3" name="Scale Scale 1"/>
          <p:cNvSpPr/>
          <p:nvPr/>
        </p:nvSpPr>
        <p:spPr>
          <a:xfrm>
            <a:off x="457200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Scale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machine, one administrator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Quorum: k = 1</a:t>
            </a:r>
            <a:endParaRPr lang="en-US" sz="1300" dirty="0"/>
          </a:p>
        </p:txBody>
      </p:sp>
      <p:sp>
        <p:nvSpPr>
          <p:cNvPr id="7" name="Scale Scale 2"/>
          <p:cNvSpPr/>
          <p:nvPr/>
        </p:nvSpPr>
        <p:spPr>
          <a:xfrm>
            <a:off x="2542032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Scale 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1783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site behind one broker, 802.1X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Quorum: k = 2 of 3</a:t>
            </a:r>
            <a:endParaRPr lang="en-US" sz="1300" dirty="0"/>
          </a:p>
        </p:txBody>
      </p:sp>
      <p:sp>
        <p:nvSpPr>
          <p:cNvPr id="11" name="Scale Scale 3"/>
          <p:cNvSpPr/>
          <p:nvPr/>
        </p:nvSpPr>
        <p:spPr>
          <a:xfrm>
            <a:off x="4626864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64024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Scale 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1783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Several cells, epoch lease, independent supervisor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Quorum: k of n, HSM</a:t>
            </a:r>
            <a:endParaRPr lang="en-US" sz="1300" dirty="0"/>
          </a:p>
        </p:txBody>
      </p:sp>
      <p:sp>
        <p:nvSpPr>
          <p:cNvPr id="15" name="Scale Full scale"/>
          <p:cNvSpPr/>
          <p:nvPr/>
        </p:nvSpPr>
        <p:spPr>
          <a:xfrm>
            <a:off x="6711696" y="123444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48856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Full scale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7830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Several entities proving policy to each other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Quorum: Not started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Sensitive organizations start where their risk is, and raise the level without changing product. Installation guides for scales 1 and 2 are in the repository, with a verifiable success criterion per step.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Open protocol. Commercial product</a:t>
            </a:r>
            <a:endParaRPr lang="en-US" sz="3000" dirty="0"/>
          </a:p>
        </p:txBody>
      </p:sp>
      <p:sp>
        <p:nvSpPr>
          <p:cNvPr id="3" name="Column 0"/>
          <p:cNvSpPr/>
          <p:nvPr/>
        </p:nvSpPr>
        <p:spPr>
          <a:xfrm>
            <a:off x="457200" y="137160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TBP: open (Apache 2.0)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Protocol, reference implementation, selftest, deployment guides, compliance mappings. Anyone can read, run and audit it.</a:t>
            </a:r>
            <a:endParaRPr lang="en-US" sz="1500" dirty="0"/>
          </a:p>
        </p:txBody>
      </p:sp>
      <p:sp>
        <p:nvSpPr>
          <p:cNvPr id="6" name="Column 1"/>
          <p:cNvSpPr/>
          <p:nvPr/>
        </p:nvSpPr>
        <p:spPr>
          <a:xfrm>
            <a:off x="4663440" y="137160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INVARIAN: Avidost's product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57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Built on TBP for organizations that must demonstrate control: sensitive sectors and teams preparing for EU AI Act obligations.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Why open: a governance layer that must be trusted has to be inspectable. The evidence is executable, not a promise.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Next: pilots, measurements, then certification</a:t>
            </a:r>
            <a:endParaRPr lang="en-US" sz="3000" dirty="0"/>
          </a:p>
        </p:txBody>
      </p:sp>
      <p:sp>
        <p:nvSpPr>
          <p:cNvPr id="3" name="Next column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the pre-seed funds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Scale 2 pilot on cloud, with the friction budget measured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Dynamic red-team campaign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First pilots with critical-infrastructure operators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External anchoring in production; behavioural profile across sequences</a:t>
            </a:r>
            <a:endParaRPr lang="en-US" sz="1400" dirty="0"/>
          </a:p>
        </p:txBody>
      </p:sp>
      <p:sp>
        <p:nvSpPr>
          <p:cNvPr id="6" name="Limits column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What we state openly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external certification or audit to date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TBP does not judge the model's reasoning or check facts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protects what goes through it; it adds to, not replaces, other security controls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Validation lab and first pilots are under 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Proof, not promises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Every governed action: decided before execution, signed, timestamped, chained, verifiable by a third party.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Avidost SAS · 130 110 711 RCS Paris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invarian.fr · info@invarian.fr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github.com/philippeabraxas-jpg/TBP-NETWORK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arian">
  <a:themeElements>
    <a:clrScheme name="Invarian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1D4ED8"/>
      </a:accent1>
      <a:accent2>
        <a:srgbClr val="047857"/>
      </a:accent2>
      <a:accent3>
        <a:srgbClr val="B45309"/>
      </a:accent3>
      <a:accent4>
        <a:srgbClr val="64748B"/>
      </a:accent4>
      <a:accent5>
        <a:srgbClr val="0EA5E9"/>
      </a:accent5>
      <a:accent6>
        <a:srgbClr val="7C3AED"/>
      </a:accent6>
      <a:hlink>
        <a:srgbClr val="1D4ED8"/>
      </a:hlink>
      <a:folHlink>
        <a:srgbClr val="64748B"/>
      </a:folHlink>
    </a:clrScheme>
    <a:fontScheme name="Invari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Avidost 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INVARIAN — AI agent governance: proof, not promises</dc:title>
  <dc:subject>PptxGenJS Presentation</dc:subject>
  <dc:creator>Avidost SAS</dc:creator>
  <cp:lastModifiedBy>Avidost SAS</cp:lastModifiedBy>
  <cp:revision>1</cp:revision>
  <dcterms:created xsi:type="dcterms:W3CDTF">2026-10-09T09:53:02Z</dcterms:created>
  <dcterms:modified xsi:type="dcterms:W3CDTF">2026-10-09T09:53:02Z</dcterms:modified>
</cp:coreProperties>
</file>