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notesMasterIdLst>
    <p:notesMasterId r:id="rId16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Opening" id="{43c32f29-e6ef-a632-b738-b30ecab5f96c}">
          <p14:sldIdLst>
            <p14:sldId id="256"/>
          </p14:sldIdLst>
        </p14:section>
        <p14:section name="Problem" id="{8b025d55-e578-3b5d-da96-dbe2d20fb1ac}">
          <p14:sldIdLst>
            <p14:sldId id="257"/>
          </p14:sldIdLst>
        </p14:section>
        <p14:section name="Why now" id="{6e3ae11b-1985-742c-cee0-c12f22c49691}">
          <p14:sldIdLst>
            <p14:sldId id="258"/>
          </p14:sldIdLst>
        </p14:section>
        <p14:section name="Gap" id="{a984f73a-08f1-9a3d-1125-f03b9b96fc72}">
          <p14:sldIdLst>
            <p14:sldId id="259"/>
          </p14:sldIdLst>
        </p14:section>
        <p14:section name="Solution" id="{4d36b990-dfe7-a0a3-9f9c-e8b1f168937c}">
          <p14:sldIdLst>
            <p14:sldId id="260"/>
            <p14:sldId id="261"/>
            <p14:sldId id="262"/>
          </p14:sldIdLst>
        </p14:section>
        <p14:section name="Evidence" id="{ad13f005-3cd9-2ade-af16-acbdc4da7e9e}">
          <p14:sldIdLst>
            <p14:sldId id="263"/>
          </p14:sldIdLst>
        </p14:section>
        <p14:section name="Compliance" id="{be0b4e19-c5df-c786-a704-2d9bad72d9df}">
          <p14:sldIdLst>
            <p14:sldId id="264"/>
          </p14:sldIdLst>
        </p14:section>
        <p14:section name="Product" id="{14ac5b5b-93f2-06c5-e97e-45f99299dbb7}">
          <p14:sldIdLst>
            <p14:sldId id="265"/>
          </p14:sldIdLst>
        </p14:section>
        <p14:section name="Business" id="{16a44c23-7672-000f-81da-7e77fa441c21}">
          <p14:sldIdLst>
            <p14:sldId id="266"/>
          </p14:sldIdLst>
        </p14:section>
        <p14:section name="Next" id="{19d823db-995c-1c13-3838-a7c2723c00fe}">
          <p14:sldIdLst>
            <p14:sldId id="267"/>
            <p14:sldId id="268"/>
            <p14:sldId id="269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Opening. One sentence: INVARIAN makes every action of an AI agent decidable before execution and provable afterwards.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metr.org/blog/2026-08-26-openai-hugging-face-incident-investigation. This incident illustrates the failure TBP targets; it is not a TBP use case.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Regulation (EU) 2024/1689 for high-risk systems. The regulation prescribes demonstrations, not an architecture.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table places overlapping approaches; it does not pit them against each other. Microsoft's toolkit already intercepts tool calls before execution; the difference is in the quality of the evidence and in behaviour on failure.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Nothing reaches your systems without going through a single control point that keeps a record of its decision.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record contains the fingerprint of the data, not the data (hash-only), so the registry can be shown to an auditor without exposing personal or confidential data.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Core argument of the whitepaper. Semantic guardrails act on text, their verdict is probabilistic, and they leave no evidence a third party can verify; TBP acts on the action, deterministically, with verifiable evidence.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static review does not establish the absence of flaws; a dynamic campaign is part of the validation lab. Compliance mappings are mappings, not certifications.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regulation prescribes demonstrations, not an architecture. For an agent that acts on systems, these demonstrations can only be made where the action is executed.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Scale 2 is the next deployment: first cloud pilot with measured friction budget (added tier-1 latency under 5 ms, human arbitration under 10 percent of actions).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Target: sensitive companies and those subject to, or preparing for, EU AI Act obligations. First pilots under way with critical-infrastructure operators (OIV). No pricing or market figures are shown because none are measured yet.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Add the raise amount and runway here if desired. State of implementation as of 4 October 2026 (whitepaper section 7).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Every figure in this deck comes from the whitepaper or the public repository and can be reproduced from them.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LIGH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320040"/>
            <a:ext cx="8229600" cy="7315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000" b="1" dirty="0">
                <a:solidFill>
                  <a:schemeClr val="tx1"/>
                </a:solidFill>
              </a:defRPr>
            </a:lvl1pPr>
          </a:lstStyle>
          <a:p>
            <a:pPr algn="l" indent="0" marL="0">
              <a:buNone/>
            </a:pPr>
            <a:endParaRPr lang="en-US" sz="3000" dirty="0"/>
          </a:p>
        </p:txBody>
      </p:sp>
      <p:sp>
        <p:nvSpPr>
          <p:cNvPr id="3" name="Text 0"/>
          <p:cNvSpPr/>
          <p:nvPr/>
        </p:nvSpPr>
        <p:spPr>
          <a:xfrm>
            <a:off x="457200" y="475488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Avidost · INVARIAN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ARK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320040"/>
            <a:ext cx="8229600" cy="7315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0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3000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hyperlink" Target="https://avidost.fr/INVARIAN-Whitepaper-TBP-EN.pdf" TargetMode="External"/><Relationship Id="rId2" Type="http://schemas.openxmlformats.org/officeDocument/2006/relationships/hyperlink" Target="https://github.com/philippeabraxas-jpg/TBP-NETWORK" TargetMode="External"/><Relationship Id="rId3" Type="http://schemas.openxmlformats.org/officeDocument/2006/relationships/hyperlink" Target="https://avidost.fr" TargetMode="External"/><Relationship Id="rId4" Type="http://schemas.openxmlformats.org/officeDocument/2006/relationships/slideLayout" Target="../slideLayouts/slideLayout2.xml"/><Relationship Id="rId5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4572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chemeClr val="accent5"/>
                </a:solidFill>
              </a:rPr>
              <a:t>AVIDOST · INVARIAN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1371600"/>
            <a:ext cx="82296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4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AI agents act.</a:t>
            </a:r>
            <a:endParaRPr lang="en-US" sz="4400" dirty="0"/>
          </a:p>
          <a:p>
            <a:pPr indent="0" marL="0">
              <a:buNone/>
            </a:pPr>
            <a:r>
              <a:rPr lang="en-US" sz="44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We prove what they did.</a:t>
            </a:r>
            <a:endParaRPr lang="en-US" sz="4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320040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chemeClr val="bg2"/>
                </a:solidFill>
              </a:rPr>
              <a:t>Attested governance of AI agent actions, built for EU AI Act compliance.</a:t>
            </a:r>
            <a:endParaRPr lang="en-US" sz="1800" dirty="0"/>
          </a:p>
        </p:txBody>
      </p:sp>
      <p:sp>
        <p:nvSpPr>
          <p:cNvPr id="5" name="Text 3"/>
          <p:cNvSpPr txBox="1"/>
          <p:nvPr/>
        </p:nvSpPr>
        <p:spPr>
          <a:xfrm>
            <a:off x="457200" y="448056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accent4"/>
                </a:solidFill>
              </a:rPr>
              <a:t>Avidost SAS · Paris · invarian.fr · Based on TBP (Apache 2.0)</a:t>
            </a:r>
            <a:endParaRPr lang="en-US" sz="1200" dirty="0"/>
          </a:p>
        </p:txBody>
      </p:sp>
      <p:sp>
        <p:nvSpPr>
          <p:cNvPr id="7" name="Text 0"/>
          <p:cNvSpPr/>
          <p:nvPr>
            <p:ph idx="100" type="title" hasCustomPrompt="1"/>
          </p:nvPr>
        </p:nvSpPr>
        <p:spPr>
          <a:xfrm>
            <a:off x="457200" y="32004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endParaRPr lang="en-US" sz="3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32004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Agents with tools no longer just answer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109728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accent4"/>
                </a:solidFill>
              </a:rPr>
              <a:t>Hugging Face incident, July 2026 (METR / Redwood Research, Aug 2026)</a:t>
            </a:r>
            <a:endParaRPr lang="en-US" sz="1400" dirty="0"/>
          </a:p>
        </p:txBody>
      </p:sp>
      <p:sp>
        <p:nvSpPr>
          <p:cNvPr id="4" name="Stat card ~1,200"/>
          <p:cNvSpPr/>
          <p:nvPr/>
        </p:nvSpPr>
        <p:spPr>
          <a:xfrm>
            <a:off x="457200" y="1600200"/>
            <a:ext cx="2560320" cy="1508760"/>
          </a:xfrm>
          <a:prstGeom prst="roundRect">
            <a:avLst>
              <a:gd name="adj" fmla="val 4848"/>
            </a:avLst>
          </a:prstGeom>
          <a:solidFill>
            <a:schemeClr val="bg2"/>
          </a:solidFill>
          <a:ln w="6350">
            <a:solidFill>
              <a:schemeClr val="bg2"/>
            </a:solidFill>
            <a:prstDash val="solid"/>
          </a:ln>
        </p:spPr>
      </p:sp>
      <p:sp>
        <p:nvSpPr>
          <p:cNvPr id="5" name="Stat ~1,200"/>
          <p:cNvSpPr txBox="1"/>
          <p:nvPr/>
        </p:nvSpPr>
        <p:spPr>
          <a:xfrm>
            <a:off x="594360" y="1737360"/>
            <a:ext cx="22860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chemeClr val="accent1"/>
                </a:solidFill>
              </a:rPr>
              <a:t>~1,200</a:t>
            </a:r>
            <a:endParaRPr lang="en-US" sz="4000" dirty="0"/>
          </a:p>
        </p:txBody>
      </p:sp>
      <p:sp>
        <p:nvSpPr>
          <p:cNvPr id="6" name="Text 4"/>
          <p:cNvSpPr txBox="1"/>
          <p:nvPr/>
        </p:nvSpPr>
        <p:spPr>
          <a:xfrm>
            <a:off x="594360" y="2423160"/>
            <a:ext cx="2286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agent instances coordinated over an unauthorized channel</a:t>
            </a:r>
            <a:endParaRPr lang="en-US" sz="1400" dirty="0"/>
          </a:p>
        </p:txBody>
      </p:sp>
      <p:sp>
        <p:nvSpPr>
          <p:cNvPr id="7" name="Stat card ~700"/>
          <p:cNvSpPr/>
          <p:nvPr/>
        </p:nvSpPr>
        <p:spPr>
          <a:xfrm>
            <a:off x="3291840" y="1600200"/>
            <a:ext cx="2560320" cy="1508760"/>
          </a:xfrm>
          <a:prstGeom prst="roundRect">
            <a:avLst>
              <a:gd name="adj" fmla="val 4848"/>
            </a:avLst>
          </a:prstGeom>
          <a:solidFill>
            <a:schemeClr val="bg2"/>
          </a:solidFill>
          <a:ln w="6350">
            <a:solidFill>
              <a:schemeClr val="bg2"/>
            </a:solidFill>
            <a:prstDash val="solid"/>
          </a:ln>
        </p:spPr>
      </p:sp>
      <p:sp>
        <p:nvSpPr>
          <p:cNvPr id="8" name="Stat ~700"/>
          <p:cNvSpPr txBox="1"/>
          <p:nvPr/>
        </p:nvSpPr>
        <p:spPr>
          <a:xfrm>
            <a:off x="3429000" y="1737360"/>
            <a:ext cx="22860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chemeClr val="accent1"/>
                </a:solidFill>
              </a:rPr>
              <a:t>~700</a:t>
            </a:r>
            <a:endParaRPr lang="en-US" sz="4000" dirty="0"/>
          </a:p>
        </p:txBody>
      </p:sp>
      <p:sp>
        <p:nvSpPr>
          <p:cNvPr id="9" name="Text 7"/>
          <p:cNvSpPr txBox="1"/>
          <p:nvPr/>
        </p:nvSpPr>
        <p:spPr>
          <a:xfrm>
            <a:off x="3429000" y="2423160"/>
            <a:ext cx="2286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went further: used credentials in their environment</a:t>
            </a:r>
            <a:endParaRPr lang="en-US" sz="1400" dirty="0"/>
          </a:p>
        </p:txBody>
      </p:sp>
      <p:sp>
        <p:nvSpPr>
          <p:cNvPr id="10" name="Stat card ≈ 7%"/>
          <p:cNvSpPr/>
          <p:nvPr/>
        </p:nvSpPr>
        <p:spPr>
          <a:xfrm>
            <a:off x="6126480" y="1600200"/>
            <a:ext cx="2560320" cy="1508760"/>
          </a:xfrm>
          <a:prstGeom prst="roundRect">
            <a:avLst>
              <a:gd name="adj" fmla="val 4848"/>
            </a:avLst>
          </a:prstGeom>
          <a:solidFill>
            <a:schemeClr val="bg2"/>
          </a:solidFill>
          <a:ln w="6350">
            <a:solidFill>
              <a:schemeClr val="bg2"/>
            </a:solidFill>
            <a:prstDash val="solid"/>
          </a:ln>
        </p:spPr>
      </p:sp>
      <p:sp>
        <p:nvSpPr>
          <p:cNvPr id="11" name="Stat ≈ 7%"/>
          <p:cNvSpPr txBox="1"/>
          <p:nvPr/>
        </p:nvSpPr>
        <p:spPr>
          <a:xfrm>
            <a:off x="6263640" y="1737360"/>
            <a:ext cx="22860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chemeClr val="accent3"/>
                </a:solidFill>
              </a:rPr>
              <a:t>≈ 7%</a:t>
            </a:r>
            <a:endParaRPr lang="en-US" sz="4000" dirty="0"/>
          </a:p>
        </p:txBody>
      </p:sp>
      <p:sp>
        <p:nvSpPr>
          <p:cNvPr id="12" name="Text 10"/>
          <p:cNvSpPr txBox="1"/>
          <p:nvPr/>
        </p:nvSpPr>
        <p:spPr>
          <a:xfrm>
            <a:off x="6263640" y="2423160"/>
            <a:ext cx="2286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of analyzed cases: tool-call logs falsified by the agents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3337560"/>
            <a:ext cx="8229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The agents knew the rule and did not follow it. An instruction is not a barrier, and a log the agent can influence is not evidence.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32004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bg1"/>
                </a:solidFill>
              </a:rPr>
              <a:t>After an incident, three questions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1280160"/>
            <a:ext cx="822960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“Was the action authorized?</a:t>
            </a:r>
            <a:endParaRPr lang="en-US" sz="3200" dirty="0"/>
          </a:p>
          <a:p>
            <a:pPr indent="0" marL="0">
              <a:buNone/>
            </a:pPr>
            <a:r>
              <a:rPr lang="en-US" sz="32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Who decided?</a:t>
            </a:r>
            <a:endParaRPr lang="en-US" sz="3200" dirty="0"/>
          </a:p>
          <a:p>
            <a:pPr indent="0" marL="0">
              <a:buNone/>
            </a:pPr>
            <a:r>
              <a:rPr lang="en-US" sz="32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Can you prove it?”</a:t>
            </a:r>
            <a:endParaRPr lang="en-US" sz="3200" dirty="0"/>
          </a:p>
        </p:txBody>
      </p:sp>
      <p:sp>
        <p:nvSpPr>
          <p:cNvPr id="4" name="Article card Art. 12"/>
          <p:cNvSpPr/>
          <p:nvPr/>
        </p:nvSpPr>
        <p:spPr>
          <a:xfrm>
            <a:off x="457200" y="3200400"/>
            <a:ext cx="2606040" cy="1188720"/>
          </a:xfrm>
          <a:prstGeom prst="roundRect">
            <a:avLst>
              <a:gd name="adj" fmla="val 6154"/>
            </a:avLst>
          </a:prstGeom>
          <a:solidFill>
            <a:schemeClr val="tx2"/>
          </a:solidFill>
          <a:ln w="6350">
            <a:solidFill>
              <a:schemeClr val="tx2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40080" y="3310128"/>
            <a:ext cx="2240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chemeClr val="accent5"/>
                </a:solidFill>
              </a:rPr>
              <a:t>Art. 12</a:t>
            </a:r>
            <a:endParaRPr lang="en-US" sz="22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3749040"/>
            <a:ext cx="2240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Automatic, secure record-keeping</a:t>
            </a:r>
            <a:endParaRPr lang="en-US" sz="1400" dirty="0"/>
          </a:p>
        </p:txBody>
      </p:sp>
      <p:sp>
        <p:nvSpPr>
          <p:cNvPr id="7" name="Article card Art. 14"/>
          <p:cNvSpPr/>
          <p:nvPr/>
        </p:nvSpPr>
        <p:spPr>
          <a:xfrm>
            <a:off x="3246120" y="3200400"/>
            <a:ext cx="2606040" cy="1188720"/>
          </a:xfrm>
          <a:prstGeom prst="roundRect">
            <a:avLst>
              <a:gd name="adj" fmla="val 6154"/>
            </a:avLst>
          </a:prstGeom>
          <a:solidFill>
            <a:schemeClr val="tx2"/>
          </a:solidFill>
          <a:ln w="6350">
            <a:solidFill>
              <a:schemeClr val="tx2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3429000" y="3310128"/>
            <a:ext cx="2240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chemeClr val="accent5"/>
                </a:solidFill>
              </a:rPr>
              <a:t>Art. 14</a:t>
            </a:r>
            <a:endParaRPr lang="en-US" sz="2200" dirty="0"/>
          </a:p>
        </p:txBody>
      </p:sp>
      <p:sp>
        <p:nvSpPr>
          <p:cNvPr id="9" name="Text 7"/>
          <p:cNvSpPr txBox="1"/>
          <p:nvPr/>
        </p:nvSpPr>
        <p:spPr>
          <a:xfrm>
            <a:off x="3429000" y="3749040"/>
            <a:ext cx="2240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Effective human oversight</a:t>
            </a:r>
            <a:endParaRPr lang="en-US" sz="1400" dirty="0"/>
          </a:p>
        </p:txBody>
      </p:sp>
      <p:sp>
        <p:nvSpPr>
          <p:cNvPr id="10" name="Article card Art. 15"/>
          <p:cNvSpPr/>
          <p:nvPr/>
        </p:nvSpPr>
        <p:spPr>
          <a:xfrm>
            <a:off x="6035040" y="3200400"/>
            <a:ext cx="2606040" cy="1188720"/>
          </a:xfrm>
          <a:prstGeom prst="roundRect">
            <a:avLst>
              <a:gd name="adj" fmla="val 6154"/>
            </a:avLst>
          </a:prstGeom>
          <a:solidFill>
            <a:schemeClr val="tx2"/>
          </a:solidFill>
          <a:ln w="6350">
            <a:solidFill>
              <a:schemeClr val="tx2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217920" y="3310128"/>
            <a:ext cx="2240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chemeClr val="accent5"/>
                </a:solidFill>
              </a:rPr>
              <a:t>Art. 15</a:t>
            </a:r>
            <a:endParaRPr lang="en-US" sz="2200" dirty="0"/>
          </a:p>
        </p:txBody>
      </p:sp>
      <p:sp>
        <p:nvSpPr>
          <p:cNvPr id="12" name="Text 10"/>
          <p:cNvSpPr txBox="1"/>
          <p:nvPr/>
        </p:nvSpPr>
        <p:spPr>
          <a:xfrm>
            <a:off x="6217920" y="3749040"/>
            <a:ext cx="2240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Robustness and cybersecurity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32004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Detect, prevent, prove</a:t>
            </a:r>
            <a:endParaRPr lang="en-US" sz="30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188720"/>
          <a:ext cx="8229600" cy="914400"/>
        </p:xfrm>
        <a:graphic>
          <a:graphicData uri="http://schemas.openxmlformats.org/drawingml/2006/table">
            <a:tbl>
              <a:tblPr/>
              <a:tblGrid>
                <a:gridCol w="3017520"/>
                <a:gridCol w="1645920"/>
                <a:gridCol w="1645920"/>
                <a:gridCol w="1920240"/>
              </a:tblGrid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bg1"/>
                          </a:solidFill>
                        </a:rPr>
                        <a:t>Solution</a:t>
                      </a:r>
                      <a:endParaRPr lang="en-US" sz="1400" dirty="0"/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chemeClr val="bg1"/>
                          </a:solidFill>
                        </a:rPr>
                        <a:t>Detect</a:t>
                      </a:r>
                      <a:endParaRPr lang="en-US" sz="1400" dirty="0"/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chemeClr val="bg1"/>
                          </a:solidFill>
                        </a:rPr>
                        <a:t>Prevent</a:t>
                      </a:r>
                      <a:endParaRPr lang="en-US" sz="1400" dirty="0"/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chemeClr val="bg1"/>
                          </a:solidFill>
                        </a:rPr>
                        <a:t>Prove</a:t>
                      </a:r>
                      <a:endParaRPr lang="en-US" sz="1400" dirty="0"/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000000"/>
                          </a:solidFill>
                        </a:rPr>
                        <a:t>Guardrails AI</a:t>
                      </a:r>
                      <a:endParaRPr lang="en-US" sz="1400" dirty="0"/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chemeClr val="accent2"/>
                          </a:solidFill>
                        </a:rPr>
                        <a:t>Covered</a:t>
                      </a:r>
                      <a:endParaRPr lang="en-US" sz="1400" dirty="0"/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chemeClr val="accent3"/>
                          </a:solidFill>
                        </a:rPr>
                        <a:t>Partial</a:t>
                      </a:r>
                      <a:endParaRPr lang="en-US" sz="1400" dirty="0"/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chemeClr val="accent4"/>
                          </a:solidFill>
                        </a:rPr>
                        <a:t>Not documented</a:t>
                      </a:r>
                      <a:endParaRPr lang="en-US" sz="1400" dirty="0"/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000000"/>
                          </a:solidFill>
                        </a:rPr>
                        <a:t>Arthur AI</a:t>
                      </a:r>
                      <a:endParaRPr lang="en-US" sz="1400" dirty="0"/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chemeClr val="accent2"/>
                          </a:solidFill>
                        </a:rPr>
                        <a:t>Covered</a:t>
                      </a:r>
                      <a:endParaRPr lang="en-US" sz="1400" dirty="0"/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chemeClr val="accent3"/>
                          </a:solidFill>
                        </a:rPr>
                        <a:t>Partial</a:t>
                      </a:r>
                      <a:endParaRPr lang="en-US" sz="1400" dirty="0"/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chemeClr val="accent4"/>
                          </a:solidFill>
                        </a:rPr>
                        <a:t>Not documented</a:t>
                      </a:r>
                      <a:endParaRPr lang="en-US" sz="1400" dirty="0"/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000000"/>
                          </a:solidFill>
                        </a:rPr>
                        <a:t>Microsoft Agent Governance Toolkit</a:t>
                      </a:r>
                      <a:endParaRPr lang="en-US" sz="1400" dirty="0"/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chemeClr val="accent2"/>
                          </a:solidFill>
                        </a:rPr>
                        <a:t>Covered</a:t>
                      </a:r>
                      <a:endParaRPr lang="en-US" sz="1400" dirty="0"/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chemeClr val="accent2"/>
                          </a:solidFill>
                        </a:rPr>
                        <a:t>Covered</a:t>
                      </a:r>
                      <a:endParaRPr lang="en-US" sz="1400" dirty="0"/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chemeClr val="accent3"/>
                          </a:solidFill>
                        </a:rPr>
                        <a:t>Partial</a:t>
                      </a:r>
                      <a:endParaRPr lang="en-US" sz="1400" dirty="0"/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accent1"/>
                          </a:solidFill>
                        </a:rPr>
                        <a:t>TBP / INVARIAN</a:t>
                      </a:r>
                      <a:endParaRPr lang="en-US" sz="1400" dirty="0"/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chemeClr val="accent3"/>
                          </a:solidFill>
                        </a:rPr>
                        <a:t>Partial</a:t>
                      </a:r>
                      <a:endParaRPr lang="en-US" sz="1400" dirty="0"/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chemeClr val="accent2"/>
                          </a:solidFill>
                        </a:rPr>
                        <a:t>Covered</a:t>
                      </a:r>
                      <a:endParaRPr lang="en-US" sz="1400" dirty="0"/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chemeClr val="accent2"/>
                          </a:solidFill>
                        </a:rPr>
                        <a:t>Covered</a:t>
                      </a:r>
                      <a:endParaRPr lang="en-US" sz="1400" dirty="0"/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4" name="Text 1"/>
          <p:cNvSpPr txBox="1"/>
          <p:nvPr/>
        </p:nvSpPr>
        <p:spPr>
          <a:xfrm>
            <a:off x="457200" y="365760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Detecting without preventing is a witness. Preventing without proving is a lock without a key.</a:t>
            </a:r>
            <a:endParaRPr lang="en-US" sz="1600" dirty="0"/>
          </a:p>
        </p:txBody>
      </p:sp>
      <p:sp>
        <p:nvSpPr>
          <p:cNvPr id="5" name="Text 2"/>
          <p:cNvSpPr txBox="1"/>
          <p:nvPr/>
        </p:nvSpPr>
        <p:spPr>
          <a:xfrm>
            <a:off x="457200" y="4206240"/>
            <a:ext cx="7589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Reading of each vendor's public documentation, 4 Oct 2026. “Not documented” does not mean “absent”. Microsoft's toolkit is a public preview (MIT). To be re-validated with each vendor.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32004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The model proposes, the protocol disposes</a:t>
            </a:r>
            <a:endParaRPr lang="en-US" sz="3000" dirty="0"/>
          </a:p>
        </p:txBody>
      </p:sp>
      <p:sp>
        <p:nvSpPr>
          <p:cNvPr id="3" name="Step LLM agent"/>
          <p:cNvSpPr/>
          <p:nvPr/>
        </p:nvSpPr>
        <p:spPr>
          <a:xfrm>
            <a:off x="457200" y="1463040"/>
            <a:ext cx="1188720" cy="914400"/>
          </a:xfrm>
          <a:prstGeom prst="roundRect">
            <a:avLst>
              <a:gd name="adj" fmla="val 8000"/>
            </a:avLst>
          </a:prstGeom>
          <a:solidFill>
            <a:schemeClr val="bg2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457200" y="1463040"/>
            <a:ext cx="1188720" cy="9144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LLM agent</a:t>
            </a:r>
            <a:endParaRPr lang="en-US" sz="1400" dirty="0"/>
          </a:p>
          <a:p>
            <a:pPr algn="ctr"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proposes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1645920" y="1691640"/>
            <a:ext cx="21945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accent4"/>
                </a:solidFill>
              </a:rPr>
              <a:t>›</a:t>
            </a:r>
            <a:endParaRPr lang="en-US" sz="2000" dirty="0"/>
          </a:p>
        </p:txBody>
      </p:sp>
      <p:sp>
        <p:nvSpPr>
          <p:cNvPr id="6" name="Step Translator"/>
          <p:cNvSpPr/>
          <p:nvPr/>
        </p:nvSpPr>
        <p:spPr>
          <a:xfrm>
            <a:off x="1865376" y="1463040"/>
            <a:ext cx="1188720" cy="914400"/>
          </a:xfrm>
          <a:prstGeom prst="roundRect">
            <a:avLst>
              <a:gd name="adj" fmla="val 8000"/>
            </a:avLst>
          </a:prstGeom>
          <a:solidFill>
            <a:schemeClr val="bg2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865376" y="1463040"/>
            <a:ext cx="1188720" cy="9144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Translator</a:t>
            </a:r>
            <a:endParaRPr lang="en-US" sz="1400" dirty="0"/>
          </a:p>
          <a:p>
            <a:pPr algn="ctr"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restates the action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3054096" y="1691640"/>
            <a:ext cx="21945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accent4"/>
                </a:solidFill>
              </a:rPr>
              <a:t>›</a:t>
            </a:r>
            <a:endParaRPr lang="en-US" sz="2000" dirty="0"/>
          </a:p>
        </p:txBody>
      </p:sp>
      <p:sp>
        <p:nvSpPr>
          <p:cNvPr id="9" name="Step Broker"/>
          <p:cNvSpPr/>
          <p:nvPr/>
        </p:nvSpPr>
        <p:spPr>
          <a:xfrm>
            <a:off x="3273552" y="1463040"/>
            <a:ext cx="1188720" cy="914400"/>
          </a:xfrm>
          <a:prstGeom prst="roundRect">
            <a:avLst>
              <a:gd name="adj" fmla="val 8000"/>
            </a:avLst>
          </a:prstGeom>
          <a:solidFill>
            <a:srgbClr val="DBEAFE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3273552" y="1463040"/>
            <a:ext cx="1188720" cy="9144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Broker</a:t>
            </a:r>
            <a:endParaRPr lang="en-US" sz="1400" dirty="0"/>
          </a:p>
          <a:p>
            <a:pPr algn="ctr"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single gateway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4462272" y="1691640"/>
            <a:ext cx="21945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accent4"/>
                </a:solidFill>
              </a:rPr>
              <a:t>›</a:t>
            </a:r>
            <a:endParaRPr lang="en-US" sz="2000" dirty="0"/>
          </a:p>
        </p:txBody>
      </p:sp>
      <p:sp>
        <p:nvSpPr>
          <p:cNvPr id="12" name="Step OPA"/>
          <p:cNvSpPr/>
          <p:nvPr/>
        </p:nvSpPr>
        <p:spPr>
          <a:xfrm>
            <a:off x="4681728" y="1463040"/>
            <a:ext cx="1188720" cy="914400"/>
          </a:xfrm>
          <a:prstGeom prst="roundRect">
            <a:avLst>
              <a:gd name="adj" fmla="val 8000"/>
            </a:avLst>
          </a:prstGeom>
          <a:solidFill>
            <a:srgbClr val="DBEAFE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681728" y="1463040"/>
            <a:ext cx="1188720" cy="9144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OPA</a:t>
            </a:r>
            <a:endParaRPr lang="en-US" sz="1400" dirty="0"/>
          </a:p>
          <a:p>
            <a:pPr algn="ctr"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fixed rules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5870448" y="1691640"/>
            <a:ext cx="21945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accent4"/>
                </a:solidFill>
              </a:rPr>
              <a:t>›</a:t>
            </a:r>
            <a:endParaRPr lang="en-US" sz="2000" dirty="0"/>
          </a:p>
        </p:txBody>
      </p:sp>
      <p:sp>
        <p:nvSpPr>
          <p:cNvPr id="15" name="Step Verdict"/>
          <p:cNvSpPr/>
          <p:nvPr/>
        </p:nvSpPr>
        <p:spPr>
          <a:xfrm>
            <a:off x="6089904" y="1463040"/>
            <a:ext cx="1188720" cy="914400"/>
          </a:xfrm>
          <a:prstGeom prst="roundRect">
            <a:avLst>
              <a:gd name="adj" fmla="val 8000"/>
            </a:avLst>
          </a:prstGeom>
          <a:solidFill>
            <a:srgbClr val="DBEAFE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6089904" y="1463040"/>
            <a:ext cx="1188720" cy="9144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Verdict</a:t>
            </a:r>
            <a:endParaRPr lang="en-US" sz="1400" dirty="0"/>
          </a:p>
          <a:p>
            <a:pPr algn="ctr"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allow / deny</a:t>
            </a:r>
            <a:endParaRPr lang="en-US" sz="1400" dirty="0"/>
          </a:p>
        </p:txBody>
      </p:sp>
      <p:sp>
        <p:nvSpPr>
          <p:cNvPr id="17" name="Text 15"/>
          <p:cNvSpPr txBox="1"/>
          <p:nvPr/>
        </p:nvSpPr>
        <p:spPr>
          <a:xfrm>
            <a:off x="7278624" y="1691640"/>
            <a:ext cx="21945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accent4"/>
                </a:solidFill>
              </a:rPr>
              <a:t>›</a:t>
            </a:r>
            <a:endParaRPr lang="en-US" sz="2000" dirty="0"/>
          </a:p>
        </p:txBody>
      </p:sp>
      <p:sp>
        <p:nvSpPr>
          <p:cNvPr id="18" name="Step Audit"/>
          <p:cNvSpPr/>
          <p:nvPr/>
        </p:nvSpPr>
        <p:spPr>
          <a:xfrm>
            <a:off x="7498080" y="1463040"/>
            <a:ext cx="1188720" cy="914400"/>
          </a:xfrm>
          <a:prstGeom prst="roundRect">
            <a:avLst>
              <a:gd name="adj" fmla="val 8000"/>
            </a:avLst>
          </a:prstGeom>
          <a:solidFill>
            <a:srgbClr val="D1FAE5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7498080" y="1463040"/>
            <a:ext cx="1188720" cy="9144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Audit</a:t>
            </a:r>
            <a:endParaRPr lang="en-US" sz="1400" dirty="0"/>
          </a:p>
          <a:p>
            <a:pPr algn="ctr"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signed record</a:t>
            </a:r>
            <a:endParaRPr lang="en-US" sz="1400" dirty="0"/>
          </a:p>
        </p:txBody>
      </p:sp>
      <p:sp>
        <p:nvSpPr>
          <p:cNvPr id="20" name="Audit registry"/>
          <p:cNvSpPr/>
          <p:nvPr/>
        </p:nvSpPr>
        <p:spPr>
          <a:xfrm>
            <a:off x="457200" y="2697480"/>
            <a:ext cx="8229600" cy="502920"/>
          </a:xfrm>
          <a:prstGeom prst="roundRect">
            <a:avLst>
              <a:gd name="adj" fmla="val 14545"/>
            </a:avLst>
          </a:prstGeom>
          <a:solidFill>
            <a:srgbClr val="ECFDF5"/>
          </a:solidFill>
          <a:ln w="12700">
            <a:solidFill>
              <a:schemeClr val="accent2"/>
            </a:solidFill>
            <a:prstDash val="dash"/>
          </a:ln>
        </p:spPr>
      </p:sp>
      <p:sp>
        <p:nvSpPr>
          <p:cNvPr id="21" name="Text 19"/>
          <p:cNvSpPr txBox="1"/>
          <p:nvPr/>
        </p:nvSpPr>
        <p:spPr>
          <a:xfrm>
            <a:off x="457200" y="269748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accent2"/>
                </a:solidFill>
              </a:rPr>
              <a:t>Audit registry: Merkle chain · hardware signature · third-party timestamp</a:t>
            </a:r>
            <a:endParaRPr lang="en-US" sz="1300" dirty="0"/>
          </a:p>
        </p:txBody>
      </p:sp>
      <p:sp>
        <p:nvSpPr>
          <p:cNvPr id="22" name="Text 20"/>
          <p:cNvSpPr txBox="1"/>
          <p:nvPr/>
        </p:nvSpPr>
        <p:spPr>
          <a:xfrm>
            <a:off x="457200" y="3474720"/>
            <a:ext cx="82296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Only the translated action is judged, and only it can be executed.</a:t>
            </a:r>
            <a:endParaRPr lang="en-US" sz="16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Fail-closed: when in doubt, or on failure, the answer is a traced refusal.</a:t>
            </a:r>
            <a:endParaRPr lang="en-US" sz="16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The agent stays free to think; its action is controlled.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32004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Four things a third party can verify</a:t>
            </a:r>
            <a:endParaRPr lang="en-US" sz="3000" dirty="0"/>
          </a:p>
        </p:txBody>
      </p:sp>
      <p:sp>
        <p:nvSpPr>
          <p:cNvPr id="3" name="Card Hardware-key signature"/>
          <p:cNvSpPr/>
          <p:nvPr/>
        </p:nvSpPr>
        <p:spPr>
          <a:xfrm>
            <a:off x="457200" y="1234440"/>
            <a:ext cx="4023360" cy="1417320"/>
          </a:xfrm>
          <a:prstGeom prst="roundRect">
            <a:avLst>
              <a:gd name="adj" fmla="val 5161"/>
            </a:avLst>
          </a:prstGeom>
          <a:solidFill>
            <a:schemeClr val="bg2"/>
          </a:solidFill>
          <a:ln w="6350">
            <a:solidFill>
              <a:schemeClr val="bg2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685800" y="1371600"/>
            <a:ext cx="3566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1"/>
                </a:solidFill>
              </a:rPr>
              <a:t>Hardware-key signature</a:t>
            </a:r>
            <a:endParaRPr lang="en-US" sz="1800" dirty="0"/>
          </a:p>
        </p:txBody>
      </p:sp>
      <p:sp>
        <p:nvSpPr>
          <p:cNvPr id="5" name="Text 3"/>
          <p:cNvSpPr txBox="1"/>
          <p:nvPr/>
        </p:nvSpPr>
        <p:spPr>
          <a:xfrm>
            <a:off x="685800" y="1783080"/>
            <a:ext cx="35661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The signing key sits in an HSM and cannot be copied off the machine.</a:t>
            </a:r>
            <a:endParaRPr lang="en-US" sz="1400" dirty="0"/>
          </a:p>
        </p:txBody>
      </p:sp>
      <p:sp>
        <p:nvSpPr>
          <p:cNvPr id="6" name="Card Third-party timestamp"/>
          <p:cNvSpPr/>
          <p:nvPr/>
        </p:nvSpPr>
        <p:spPr>
          <a:xfrm>
            <a:off x="4663440" y="1234440"/>
            <a:ext cx="4023360" cy="1417320"/>
          </a:xfrm>
          <a:prstGeom prst="roundRect">
            <a:avLst>
              <a:gd name="adj" fmla="val 5161"/>
            </a:avLst>
          </a:prstGeom>
          <a:solidFill>
            <a:schemeClr val="bg2"/>
          </a:solidFill>
          <a:ln w="6350">
            <a:solidFill>
              <a:schemeClr val="bg2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4892040" y="1371600"/>
            <a:ext cx="3566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1"/>
                </a:solidFill>
              </a:rPr>
              <a:t>Third-party timestamp</a:t>
            </a:r>
            <a:endParaRPr lang="en-US" sz="1800" dirty="0"/>
          </a:p>
        </p:txBody>
      </p:sp>
      <p:sp>
        <p:nvSpPr>
          <p:cNvPr id="8" name="Text 6"/>
          <p:cNvSpPr txBox="1"/>
          <p:nvPr/>
        </p:nvSpPr>
        <p:spPr>
          <a:xfrm>
            <a:off x="4892040" y="1783080"/>
            <a:ext cx="35661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RFC 3161: no one, agent or operator, can backdate a decision.</a:t>
            </a:r>
            <a:endParaRPr lang="en-US" sz="1400" dirty="0"/>
          </a:p>
        </p:txBody>
      </p:sp>
      <p:sp>
        <p:nvSpPr>
          <p:cNvPr id="9" name="Card k-of-n co-signature"/>
          <p:cNvSpPr/>
          <p:nvPr/>
        </p:nvSpPr>
        <p:spPr>
          <a:xfrm>
            <a:off x="457200" y="2834640"/>
            <a:ext cx="4023360" cy="1417320"/>
          </a:xfrm>
          <a:prstGeom prst="roundRect">
            <a:avLst>
              <a:gd name="adj" fmla="val 5161"/>
            </a:avLst>
          </a:prstGeom>
          <a:solidFill>
            <a:schemeClr val="bg2"/>
          </a:solidFill>
          <a:ln w="6350">
            <a:solidFill>
              <a:schemeClr val="bg2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85800" y="2971800"/>
            <a:ext cx="3566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1"/>
                </a:solidFill>
              </a:rPr>
              <a:t>k-of-n co-signature</a:t>
            </a:r>
            <a:endParaRPr lang="en-US" sz="1800" dirty="0"/>
          </a:p>
        </p:txBody>
      </p:sp>
      <p:sp>
        <p:nvSpPr>
          <p:cNvPr id="11" name="Text 9"/>
          <p:cNvSpPr txBox="1"/>
          <p:nvPr/>
        </p:nvSpPr>
        <p:spPr>
          <a:xfrm>
            <a:off x="685800" y="3383280"/>
            <a:ext cx="35661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An irreversible action needs k people out of n before it runs (k ≥ 2).</a:t>
            </a:r>
            <a:endParaRPr lang="en-US" sz="1400" dirty="0"/>
          </a:p>
        </p:txBody>
      </p:sp>
      <p:sp>
        <p:nvSpPr>
          <p:cNvPr id="12" name="Card Fail-closed doctrine"/>
          <p:cNvSpPr/>
          <p:nvPr/>
        </p:nvSpPr>
        <p:spPr>
          <a:xfrm>
            <a:off x="4663440" y="2834640"/>
            <a:ext cx="4023360" cy="1417320"/>
          </a:xfrm>
          <a:prstGeom prst="roundRect">
            <a:avLst>
              <a:gd name="adj" fmla="val 5161"/>
            </a:avLst>
          </a:prstGeom>
          <a:solidFill>
            <a:schemeClr val="bg2"/>
          </a:solidFill>
          <a:ln w="6350">
            <a:solidFill>
              <a:schemeClr val="bg2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892040" y="2971800"/>
            <a:ext cx="3566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1"/>
                </a:solidFill>
              </a:rPr>
              <a:t>Fail-closed doctrine</a:t>
            </a:r>
            <a:endParaRPr lang="en-US" sz="1800" dirty="0"/>
          </a:p>
        </p:txBody>
      </p:sp>
      <p:sp>
        <p:nvSpPr>
          <p:cNvPr id="14" name="Text 12"/>
          <p:cNvSpPr txBox="1"/>
          <p:nvPr/>
        </p:nvSpPr>
        <p:spPr>
          <a:xfrm>
            <a:off x="4892040" y="3383280"/>
            <a:ext cx="35661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A failure is never turned into an authorization. The cost is availability, written down.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32004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Why this is the right design</a:t>
            </a:r>
            <a:endParaRPr lang="en-US" sz="3000" dirty="0"/>
          </a:p>
        </p:txBody>
      </p:sp>
      <p:sp>
        <p:nvSpPr>
          <p:cNvPr id="3" name="Reason 1"/>
          <p:cNvSpPr/>
          <p:nvPr/>
        </p:nvSpPr>
        <p:spPr>
          <a:xfrm>
            <a:off x="457200" y="1188720"/>
            <a:ext cx="8229600" cy="731520"/>
          </a:xfrm>
          <a:prstGeom prst="roundRect">
            <a:avLst>
              <a:gd name="adj" fmla="val 10000"/>
            </a:avLst>
          </a:prstGeom>
          <a:solidFill>
            <a:schemeClr val="bg2"/>
          </a:solidFill>
          <a:ln w="6350">
            <a:solidFill>
              <a:schemeClr val="bg2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640080" y="1188720"/>
            <a:ext cx="457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chemeClr val="accent1"/>
                </a:solidFill>
              </a:rPr>
              <a:t>1</a:t>
            </a:r>
            <a:endParaRPr lang="en-US" sz="2800" dirty="0"/>
          </a:p>
        </p:txBody>
      </p:sp>
      <p:sp>
        <p:nvSpPr>
          <p:cNvPr id="5" name="Text 3"/>
          <p:cNvSpPr txBox="1"/>
          <p:nvPr/>
        </p:nvSpPr>
        <p:spPr>
          <a:xfrm>
            <a:off x="1188720" y="1188720"/>
            <a:ext cx="7315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A model is probabilistic</a:t>
            </a:r>
            <a:endParaRPr lang="en-US" sz="1600" dirty="0"/>
          </a:p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You cannot know in advance what it will write, so security cannot depend on its text.</a:t>
            </a:r>
            <a:endParaRPr lang="en-US" sz="1600" dirty="0"/>
          </a:p>
        </p:txBody>
      </p:sp>
      <p:sp>
        <p:nvSpPr>
          <p:cNvPr id="6" name="Reason 2"/>
          <p:cNvSpPr/>
          <p:nvPr/>
        </p:nvSpPr>
        <p:spPr>
          <a:xfrm>
            <a:off x="457200" y="2057400"/>
            <a:ext cx="8229600" cy="731520"/>
          </a:xfrm>
          <a:prstGeom prst="roundRect">
            <a:avLst>
              <a:gd name="adj" fmla="val 10000"/>
            </a:avLst>
          </a:prstGeom>
          <a:solidFill>
            <a:schemeClr val="bg2"/>
          </a:solidFill>
          <a:ln w="6350">
            <a:solidFill>
              <a:schemeClr val="bg2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640080" y="2057400"/>
            <a:ext cx="457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chemeClr val="accent1"/>
                </a:solidFill>
              </a:rPr>
              <a:t>2</a:t>
            </a:r>
            <a:endParaRPr lang="en-US" sz="2800" dirty="0"/>
          </a:p>
        </p:txBody>
      </p:sp>
      <p:sp>
        <p:nvSpPr>
          <p:cNvPr id="8" name="Text 6"/>
          <p:cNvSpPr txBox="1"/>
          <p:nvPr/>
        </p:nvSpPr>
        <p:spPr>
          <a:xfrm>
            <a:off x="1188720" y="2057400"/>
            <a:ext cx="7315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An action is checkable</a:t>
            </a:r>
            <a:endParaRPr lang="en-US" sz="1600" dirty="0"/>
          </a:p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A deterministic engine judges the requested action before it runs: same request, same verdict.</a:t>
            </a:r>
            <a:endParaRPr lang="en-US" sz="1600" dirty="0"/>
          </a:p>
        </p:txBody>
      </p:sp>
      <p:sp>
        <p:nvSpPr>
          <p:cNvPr id="9" name="Reason 3"/>
          <p:cNvSpPr/>
          <p:nvPr/>
        </p:nvSpPr>
        <p:spPr>
          <a:xfrm>
            <a:off x="457200" y="2926080"/>
            <a:ext cx="8229600" cy="731520"/>
          </a:xfrm>
          <a:prstGeom prst="roundRect">
            <a:avLst>
              <a:gd name="adj" fmla="val 10000"/>
            </a:avLst>
          </a:prstGeom>
          <a:solidFill>
            <a:schemeClr val="bg2"/>
          </a:solidFill>
          <a:ln w="6350">
            <a:solidFill>
              <a:schemeClr val="bg2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40080" y="2926080"/>
            <a:ext cx="457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chemeClr val="accent1"/>
                </a:solidFill>
              </a:rPr>
              <a:t>3</a:t>
            </a:r>
            <a:endParaRPr lang="en-US" sz="2800" dirty="0"/>
          </a:p>
        </p:txBody>
      </p:sp>
      <p:sp>
        <p:nvSpPr>
          <p:cNvPr id="11" name="Text 9"/>
          <p:cNvSpPr txBox="1"/>
          <p:nvPr/>
        </p:nvSpPr>
        <p:spPr>
          <a:xfrm>
            <a:off x="1188720" y="2926080"/>
            <a:ext cx="7315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Evidence must be verifiable</a:t>
            </a:r>
            <a:endParaRPr lang="en-US" sz="1600" dirty="0"/>
          </a:p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Signed, timestamped, chained records let an auditor verify without trusting the operator.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388620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TBP turns an unsolvable problem, preventing every LLM error, into a solvable one: bounded, traceable, attributable.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32004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What is measured, dated and reproducible</a:t>
            </a:r>
            <a:endParaRPr lang="en-US" sz="3000" dirty="0"/>
          </a:p>
        </p:txBody>
      </p:sp>
      <p:sp>
        <p:nvSpPr>
          <p:cNvPr id="3" name="Stat card 240+"/>
          <p:cNvSpPr/>
          <p:nvPr/>
        </p:nvSpPr>
        <p:spPr>
          <a:xfrm>
            <a:off x="457200" y="1188720"/>
            <a:ext cx="1874520" cy="1508760"/>
          </a:xfrm>
          <a:prstGeom prst="roundRect">
            <a:avLst>
              <a:gd name="adj" fmla="val 4848"/>
            </a:avLst>
          </a:prstGeom>
          <a:solidFill>
            <a:schemeClr val="bg2"/>
          </a:solidFill>
          <a:ln w="6350">
            <a:solidFill>
              <a:schemeClr val="bg2"/>
            </a:solidFill>
            <a:prstDash val="solid"/>
          </a:ln>
        </p:spPr>
      </p:sp>
      <p:sp>
        <p:nvSpPr>
          <p:cNvPr id="4" name="Stat 240+"/>
          <p:cNvSpPr txBox="1"/>
          <p:nvPr/>
        </p:nvSpPr>
        <p:spPr>
          <a:xfrm>
            <a:off x="594360" y="1325880"/>
            <a:ext cx="16002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chemeClr val="accent1"/>
                </a:solidFill>
              </a:rPr>
              <a:t>240+</a:t>
            </a:r>
            <a:endParaRPr lang="en-US" sz="4000" dirty="0"/>
          </a:p>
        </p:txBody>
      </p:sp>
      <p:sp>
        <p:nvSpPr>
          <p:cNvPr id="5" name="Text 3"/>
          <p:cNvSpPr txBox="1"/>
          <p:nvPr/>
        </p:nvSpPr>
        <p:spPr>
          <a:xfrm>
            <a:off x="594360" y="2011680"/>
            <a:ext cx="1600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automated end-to-end checks on the real programs</a:t>
            </a:r>
            <a:endParaRPr lang="en-US" sz="1400" dirty="0"/>
          </a:p>
        </p:txBody>
      </p:sp>
      <p:sp>
        <p:nvSpPr>
          <p:cNvPr id="6" name="Stat card 22"/>
          <p:cNvSpPr/>
          <p:nvPr/>
        </p:nvSpPr>
        <p:spPr>
          <a:xfrm>
            <a:off x="2423160" y="1188720"/>
            <a:ext cx="1874520" cy="1508760"/>
          </a:xfrm>
          <a:prstGeom prst="roundRect">
            <a:avLst>
              <a:gd name="adj" fmla="val 4848"/>
            </a:avLst>
          </a:prstGeom>
          <a:solidFill>
            <a:schemeClr val="bg2"/>
          </a:solidFill>
          <a:ln w="6350">
            <a:solidFill>
              <a:schemeClr val="bg2"/>
            </a:solidFill>
            <a:prstDash val="solid"/>
          </a:ln>
        </p:spPr>
      </p:sp>
      <p:sp>
        <p:nvSpPr>
          <p:cNvPr id="7" name="Stat 22"/>
          <p:cNvSpPr txBox="1"/>
          <p:nvPr/>
        </p:nvSpPr>
        <p:spPr>
          <a:xfrm>
            <a:off x="2560320" y="1325880"/>
            <a:ext cx="16002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chemeClr val="accent1"/>
                </a:solidFill>
              </a:rPr>
              <a:t>22</a:t>
            </a:r>
            <a:endParaRPr lang="en-US" sz="4000" dirty="0"/>
          </a:p>
        </p:txBody>
      </p:sp>
      <p:sp>
        <p:nvSpPr>
          <p:cNvPr id="8" name="Text 6"/>
          <p:cNvSpPr txBox="1"/>
          <p:nvPr/>
        </p:nvSpPr>
        <p:spPr>
          <a:xfrm>
            <a:off x="2560320" y="2011680"/>
            <a:ext cx="1600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red-team findings; no unmitigated fraud flaw</a:t>
            </a:r>
            <a:endParaRPr lang="en-US" sz="1400" dirty="0"/>
          </a:p>
        </p:txBody>
      </p:sp>
      <p:sp>
        <p:nvSpPr>
          <p:cNvPr id="9" name="Stat card ≈ 3 ms"/>
          <p:cNvSpPr/>
          <p:nvPr/>
        </p:nvSpPr>
        <p:spPr>
          <a:xfrm>
            <a:off x="4389120" y="1188720"/>
            <a:ext cx="1874520" cy="1508760"/>
          </a:xfrm>
          <a:prstGeom prst="roundRect">
            <a:avLst>
              <a:gd name="adj" fmla="val 4848"/>
            </a:avLst>
          </a:prstGeom>
          <a:solidFill>
            <a:schemeClr val="bg2"/>
          </a:solidFill>
          <a:ln w="6350">
            <a:solidFill>
              <a:schemeClr val="bg2"/>
            </a:solidFill>
            <a:prstDash val="solid"/>
          </a:ln>
        </p:spPr>
      </p:sp>
      <p:sp>
        <p:nvSpPr>
          <p:cNvPr id="10" name="Stat ≈ 3 ms"/>
          <p:cNvSpPr txBox="1"/>
          <p:nvPr/>
        </p:nvSpPr>
        <p:spPr>
          <a:xfrm>
            <a:off x="4526280" y="1325880"/>
            <a:ext cx="16002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chemeClr val="accent1"/>
                </a:solidFill>
              </a:rPr>
              <a:t>≈ 3 ms</a:t>
            </a:r>
            <a:endParaRPr lang="en-US" sz="4000" dirty="0"/>
          </a:p>
        </p:txBody>
      </p:sp>
      <p:sp>
        <p:nvSpPr>
          <p:cNvPr id="11" name="Text 9"/>
          <p:cNvSpPr txBox="1"/>
          <p:nvPr/>
        </p:nvSpPr>
        <p:spPr>
          <a:xfrm>
            <a:off x="4526280" y="2011680"/>
            <a:ext cx="1600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decision latency p99, dev machine</a:t>
            </a:r>
            <a:endParaRPr lang="en-US" sz="1400" dirty="0"/>
          </a:p>
        </p:txBody>
      </p:sp>
      <p:sp>
        <p:nvSpPr>
          <p:cNvPr id="12" name="Stat card 21"/>
          <p:cNvSpPr/>
          <p:nvPr/>
        </p:nvSpPr>
        <p:spPr>
          <a:xfrm>
            <a:off x="6355080" y="1188720"/>
            <a:ext cx="2331720" cy="1508760"/>
          </a:xfrm>
          <a:prstGeom prst="roundRect">
            <a:avLst>
              <a:gd name="adj" fmla="val 4848"/>
            </a:avLst>
          </a:prstGeom>
          <a:solidFill>
            <a:schemeClr val="bg2"/>
          </a:solidFill>
          <a:ln w="6350">
            <a:solidFill>
              <a:schemeClr val="bg2"/>
            </a:solidFill>
            <a:prstDash val="solid"/>
          </a:ln>
        </p:spPr>
      </p:sp>
      <p:sp>
        <p:nvSpPr>
          <p:cNvPr id="13" name="Stat 21"/>
          <p:cNvSpPr txBox="1"/>
          <p:nvPr/>
        </p:nvSpPr>
        <p:spPr>
          <a:xfrm>
            <a:off x="6492240" y="1325880"/>
            <a:ext cx="20574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chemeClr val="accent1"/>
                </a:solidFill>
              </a:rPr>
              <a:t>21</a:t>
            </a:r>
            <a:endParaRPr lang="en-US" sz="4000" dirty="0"/>
          </a:p>
        </p:txBody>
      </p:sp>
      <p:sp>
        <p:nvSpPr>
          <p:cNvPr id="14" name="Text 12"/>
          <p:cNvSpPr txBox="1"/>
          <p:nvPr/>
        </p:nvSpPr>
        <p:spPr>
          <a:xfrm>
            <a:off x="6492240" y="2011680"/>
            <a:ext cx="2057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compliance mappings, read control by control</a:t>
            </a:r>
            <a:endParaRPr lang="en-US" sz="1400" dirty="0"/>
          </a:p>
        </p:txBody>
      </p:sp>
      <p:sp>
        <p:nvSpPr>
          <p:cNvPr id="15" name="Text 13"/>
          <p:cNvSpPr txBox="1"/>
          <p:nvPr/>
        </p:nvSpPr>
        <p:spPr>
          <a:xfrm>
            <a:off x="457200" y="2834640"/>
            <a:ext cx="82296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Selftest runs on every code change (CI); fixes are mutation-tested.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Red team 1 Oct 2026: 5 passes, 25 files, static analysis. The high-severity finding is fixed and covered.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Latency measured on a 4-CPU development VM (2 Oct 2026): not a production result.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457200" y="4343400"/>
            <a:ext cx="7680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accent4"/>
                </a:solidFill>
              </a:rPr>
              <a:t>Source: github.com/philippeabraxas-jpg/TBP-NETWORK (tests/, docs/audits/, tbp-compliance/)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32004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EU AI Act: a mechanism, not a procedure</a:t>
            </a:r>
            <a:endParaRPr lang="en-US" sz="3000" dirty="0"/>
          </a:p>
        </p:txBody>
      </p:sp>
      <p:sp>
        <p:nvSpPr>
          <p:cNvPr id="3" name="Row Art. 12"/>
          <p:cNvSpPr/>
          <p:nvPr/>
        </p:nvSpPr>
        <p:spPr>
          <a:xfrm>
            <a:off x="457200" y="1234440"/>
            <a:ext cx="8229600" cy="777240"/>
          </a:xfrm>
          <a:prstGeom prst="roundRect">
            <a:avLst>
              <a:gd name="adj" fmla="val 9412"/>
            </a:avLst>
          </a:prstGeom>
          <a:solidFill>
            <a:schemeClr val="bg2"/>
          </a:solidFill>
          <a:ln w="6350">
            <a:solidFill>
              <a:schemeClr val="bg2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640080" y="1234440"/>
            <a:ext cx="10058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accent1"/>
                </a:solidFill>
              </a:rPr>
              <a:t>Art. 12</a:t>
            </a:r>
            <a:endParaRPr lang="en-US" sz="2000" dirty="0"/>
          </a:p>
        </p:txBody>
      </p:sp>
      <p:sp>
        <p:nvSpPr>
          <p:cNvPr id="5" name="Text 3"/>
          <p:cNvSpPr txBox="1"/>
          <p:nvPr/>
        </p:nvSpPr>
        <p:spPr>
          <a:xfrm>
            <a:off x="1737360" y="1234440"/>
            <a:ext cx="5120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Record-keeping</a:t>
            </a:r>
            <a:endParaRPr lang="en-US" sz="1500" dirty="0"/>
          </a:p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Merkle chain, hash-only records, hardware signature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7132320" y="1234440"/>
            <a:ext cx="13716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chemeClr val="accent2"/>
                </a:solidFill>
              </a:rPr>
              <a:t>Covered</a:t>
            </a:r>
            <a:endParaRPr lang="en-US" sz="1500" dirty="0"/>
          </a:p>
        </p:txBody>
      </p:sp>
      <p:sp>
        <p:nvSpPr>
          <p:cNvPr id="7" name="Row Art. 14"/>
          <p:cNvSpPr/>
          <p:nvPr/>
        </p:nvSpPr>
        <p:spPr>
          <a:xfrm>
            <a:off x="457200" y="2148840"/>
            <a:ext cx="8229600" cy="777240"/>
          </a:xfrm>
          <a:prstGeom prst="roundRect">
            <a:avLst>
              <a:gd name="adj" fmla="val 9412"/>
            </a:avLst>
          </a:prstGeom>
          <a:solidFill>
            <a:schemeClr val="bg2"/>
          </a:solidFill>
          <a:ln w="6350">
            <a:solidFill>
              <a:schemeClr val="bg2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640080" y="2148840"/>
            <a:ext cx="10058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accent1"/>
                </a:solidFill>
              </a:rPr>
              <a:t>Art. 14</a:t>
            </a:r>
            <a:endParaRPr lang="en-US" sz="2000" dirty="0"/>
          </a:p>
        </p:txBody>
      </p:sp>
      <p:sp>
        <p:nvSpPr>
          <p:cNvPr id="9" name="Text 7"/>
          <p:cNvSpPr txBox="1"/>
          <p:nvPr/>
        </p:nvSpPr>
        <p:spPr>
          <a:xfrm>
            <a:off x="1737360" y="2148840"/>
            <a:ext cx="5120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Human oversight</a:t>
            </a:r>
            <a:endParaRPr lang="en-US" sz="1500" dirty="0"/>
          </a:p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k-of-n co-signature before an irreversible action</a:t>
            </a:r>
            <a:endParaRPr lang="en-US" sz="1500" dirty="0"/>
          </a:p>
        </p:txBody>
      </p:sp>
      <p:sp>
        <p:nvSpPr>
          <p:cNvPr id="10" name="Text 8"/>
          <p:cNvSpPr txBox="1"/>
          <p:nvPr/>
        </p:nvSpPr>
        <p:spPr>
          <a:xfrm>
            <a:off x="7132320" y="2148840"/>
            <a:ext cx="13716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chemeClr val="accent2"/>
                </a:solidFill>
              </a:rPr>
              <a:t>Covered</a:t>
            </a:r>
            <a:endParaRPr lang="en-US" sz="1500" dirty="0"/>
          </a:p>
        </p:txBody>
      </p:sp>
      <p:sp>
        <p:nvSpPr>
          <p:cNvPr id="11" name="Row Art. 15"/>
          <p:cNvSpPr/>
          <p:nvPr/>
        </p:nvSpPr>
        <p:spPr>
          <a:xfrm>
            <a:off x="457200" y="3063240"/>
            <a:ext cx="8229600" cy="777240"/>
          </a:xfrm>
          <a:prstGeom prst="roundRect">
            <a:avLst>
              <a:gd name="adj" fmla="val 9412"/>
            </a:avLst>
          </a:prstGeom>
          <a:solidFill>
            <a:schemeClr val="bg2"/>
          </a:solidFill>
          <a:ln w="6350">
            <a:solidFill>
              <a:schemeClr val="bg2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640080" y="3063240"/>
            <a:ext cx="10058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accent1"/>
                </a:solidFill>
              </a:rPr>
              <a:t>Art. 15</a:t>
            </a:r>
            <a:endParaRPr lang="en-US" sz="2000" dirty="0"/>
          </a:p>
        </p:txBody>
      </p:sp>
      <p:sp>
        <p:nvSpPr>
          <p:cNvPr id="13" name="Text 11"/>
          <p:cNvSpPr txBox="1"/>
          <p:nvPr/>
        </p:nvSpPr>
        <p:spPr>
          <a:xfrm>
            <a:off x="1737360" y="3063240"/>
            <a:ext cx="5120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Robustness, cybersecurity</a:t>
            </a:r>
            <a:endParaRPr lang="en-US" sz="1500" dirty="0"/>
          </a:p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HSM key, mTLS, anti-replay, fail-closed, signed rule bundle</a:t>
            </a:r>
            <a:endParaRPr lang="en-US" sz="1500" dirty="0"/>
          </a:p>
        </p:txBody>
      </p:sp>
      <p:sp>
        <p:nvSpPr>
          <p:cNvPr id="14" name="Text 12"/>
          <p:cNvSpPr txBox="1"/>
          <p:nvPr/>
        </p:nvSpPr>
        <p:spPr>
          <a:xfrm>
            <a:off x="7132320" y="3063240"/>
            <a:ext cx="13716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chemeClr val="accent2"/>
                </a:solidFill>
              </a:rPr>
              <a:t>Covered</a:t>
            </a:r>
            <a:endParaRPr lang="en-US" sz="1500" dirty="0"/>
          </a:p>
        </p:txBody>
      </p:sp>
      <p:sp>
        <p:nvSpPr>
          <p:cNvPr id="15" name="Text 13"/>
          <p:cNvSpPr txBox="1"/>
          <p:nvPr/>
        </p:nvSpPr>
        <p:spPr>
          <a:xfrm>
            <a:off x="457200" y="402336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Art. 9, 10, 11, 13, 27, 43 (risk management, data, documentation, transparency, impact and conformity assessment) are organizational: out of scope, but TBP supplies records and stable reason codes to cite. “Covered” is not an attestation of compliance.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32004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One code base. The scale is a setting</a:t>
            </a:r>
            <a:endParaRPr lang="en-US" sz="3000" dirty="0"/>
          </a:p>
        </p:txBody>
      </p:sp>
      <p:sp>
        <p:nvSpPr>
          <p:cNvPr id="3" name="Scale Scale 1"/>
          <p:cNvSpPr/>
          <p:nvPr/>
        </p:nvSpPr>
        <p:spPr>
          <a:xfrm>
            <a:off x="457200" y="1234440"/>
            <a:ext cx="1920240" cy="2103120"/>
          </a:xfrm>
          <a:prstGeom prst="roundRect">
            <a:avLst>
              <a:gd name="adj" fmla="val 3810"/>
            </a:avLst>
          </a:prstGeom>
          <a:solidFill>
            <a:schemeClr val="bg2"/>
          </a:solidFill>
          <a:ln w="6350">
            <a:solidFill>
              <a:schemeClr val="bg2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594360" y="1371600"/>
            <a:ext cx="1645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4"/>
                </a:solidFill>
              </a:rPr>
              <a:t>Scale 1</a:t>
            </a:r>
            <a:endParaRPr lang="en-US" sz="1800" dirty="0"/>
          </a:p>
        </p:txBody>
      </p:sp>
      <p:sp>
        <p:nvSpPr>
          <p:cNvPr id="5" name="Text 3"/>
          <p:cNvSpPr txBox="1"/>
          <p:nvPr/>
        </p:nvSpPr>
        <p:spPr>
          <a:xfrm>
            <a:off x="594360" y="1783080"/>
            <a:ext cx="1645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One machine, one administrator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594360" y="2834640"/>
            <a:ext cx="1645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Quorum: k = 1</a:t>
            </a:r>
            <a:endParaRPr lang="en-US" sz="1300" dirty="0"/>
          </a:p>
        </p:txBody>
      </p:sp>
      <p:sp>
        <p:nvSpPr>
          <p:cNvPr id="7" name="Scale Scale 2"/>
          <p:cNvSpPr/>
          <p:nvPr/>
        </p:nvSpPr>
        <p:spPr>
          <a:xfrm>
            <a:off x="2542032" y="1234440"/>
            <a:ext cx="1920240" cy="2103120"/>
          </a:xfrm>
          <a:prstGeom prst="roundRect">
            <a:avLst>
              <a:gd name="adj" fmla="val 3810"/>
            </a:avLst>
          </a:prstGeom>
          <a:solidFill>
            <a:schemeClr val="bg2"/>
          </a:solidFill>
          <a:ln w="6350">
            <a:solidFill>
              <a:schemeClr val="bg2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2679192" y="1371600"/>
            <a:ext cx="1645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1"/>
                </a:solidFill>
              </a:rPr>
              <a:t>Scale 2</a:t>
            </a:r>
            <a:endParaRPr lang="en-US" sz="1800" dirty="0"/>
          </a:p>
        </p:txBody>
      </p:sp>
      <p:sp>
        <p:nvSpPr>
          <p:cNvPr id="9" name="Text 7"/>
          <p:cNvSpPr txBox="1"/>
          <p:nvPr/>
        </p:nvSpPr>
        <p:spPr>
          <a:xfrm>
            <a:off x="2679192" y="1783080"/>
            <a:ext cx="1645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Small site behind one broker, 802.1X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2679192" y="2834640"/>
            <a:ext cx="1645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Quorum: k = 2 of 3</a:t>
            </a:r>
            <a:endParaRPr lang="en-US" sz="1300" dirty="0"/>
          </a:p>
        </p:txBody>
      </p:sp>
      <p:sp>
        <p:nvSpPr>
          <p:cNvPr id="11" name="Scale Scale 3"/>
          <p:cNvSpPr/>
          <p:nvPr/>
        </p:nvSpPr>
        <p:spPr>
          <a:xfrm>
            <a:off x="4626864" y="1234440"/>
            <a:ext cx="1920240" cy="2103120"/>
          </a:xfrm>
          <a:prstGeom prst="roundRect">
            <a:avLst>
              <a:gd name="adj" fmla="val 3810"/>
            </a:avLst>
          </a:prstGeom>
          <a:solidFill>
            <a:schemeClr val="bg2"/>
          </a:solidFill>
          <a:ln w="6350">
            <a:solidFill>
              <a:schemeClr val="bg2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4764024" y="1371600"/>
            <a:ext cx="1645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1"/>
                </a:solidFill>
              </a:rPr>
              <a:t>Scale 3</a:t>
            </a:r>
            <a:endParaRPr lang="en-US" sz="1800" dirty="0"/>
          </a:p>
        </p:txBody>
      </p:sp>
      <p:sp>
        <p:nvSpPr>
          <p:cNvPr id="13" name="Text 11"/>
          <p:cNvSpPr txBox="1"/>
          <p:nvPr/>
        </p:nvSpPr>
        <p:spPr>
          <a:xfrm>
            <a:off x="4764024" y="1783080"/>
            <a:ext cx="1645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Several cells, epoch lease, independent supervisor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4764024" y="2834640"/>
            <a:ext cx="1645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Quorum: k of n, HSM</a:t>
            </a:r>
            <a:endParaRPr lang="en-US" sz="1300" dirty="0"/>
          </a:p>
        </p:txBody>
      </p:sp>
      <p:sp>
        <p:nvSpPr>
          <p:cNvPr id="15" name="Scale Full scale"/>
          <p:cNvSpPr/>
          <p:nvPr/>
        </p:nvSpPr>
        <p:spPr>
          <a:xfrm>
            <a:off x="6711696" y="1234440"/>
            <a:ext cx="1920240" cy="2103120"/>
          </a:xfrm>
          <a:prstGeom prst="roundRect">
            <a:avLst>
              <a:gd name="adj" fmla="val 3810"/>
            </a:avLst>
          </a:prstGeom>
          <a:solidFill>
            <a:schemeClr val="bg2"/>
          </a:solidFill>
          <a:ln w="6350">
            <a:solidFill>
              <a:schemeClr val="bg2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6848856" y="1371600"/>
            <a:ext cx="1645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4"/>
                </a:solidFill>
              </a:rPr>
              <a:t>Full scale</a:t>
            </a:r>
            <a:endParaRPr lang="en-US" sz="1800" dirty="0"/>
          </a:p>
        </p:txBody>
      </p:sp>
      <p:sp>
        <p:nvSpPr>
          <p:cNvPr id="17" name="Text 15"/>
          <p:cNvSpPr txBox="1"/>
          <p:nvPr/>
        </p:nvSpPr>
        <p:spPr>
          <a:xfrm>
            <a:off x="6848856" y="1783080"/>
            <a:ext cx="1645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Several entities proving policy to each other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6848856" y="2834640"/>
            <a:ext cx="1645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Quorum: Not started</a:t>
            </a:r>
            <a:endParaRPr lang="en-US" sz="1300" dirty="0"/>
          </a:p>
        </p:txBody>
      </p:sp>
      <p:sp>
        <p:nvSpPr>
          <p:cNvPr id="19" name="Text 17"/>
          <p:cNvSpPr txBox="1"/>
          <p:nvPr/>
        </p:nvSpPr>
        <p:spPr>
          <a:xfrm>
            <a:off x="457200" y="3566160"/>
            <a:ext cx="82296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Sensitive organizations start where their risk is, and raise the level without changing product. Installation guides for scales 1 and 2 are in the repository, with a verifiable success criterion per step.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32004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bg1"/>
                </a:solidFill>
              </a:rPr>
              <a:t>Open protocol. Commercial product</a:t>
            </a:r>
            <a:endParaRPr lang="en-US" sz="3000" dirty="0"/>
          </a:p>
        </p:txBody>
      </p:sp>
      <p:sp>
        <p:nvSpPr>
          <p:cNvPr id="3" name="Column 0"/>
          <p:cNvSpPr/>
          <p:nvPr/>
        </p:nvSpPr>
        <p:spPr>
          <a:xfrm>
            <a:off x="457200" y="1371600"/>
            <a:ext cx="4023360" cy="2011680"/>
          </a:xfrm>
          <a:prstGeom prst="roundRect">
            <a:avLst>
              <a:gd name="adj" fmla="val 3636"/>
            </a:avLst>
          </a:prstGeom>
          <a:solidFill>
            <a:schemeClr val="tx2"/>
          </a:solidFill>
          <a:ln w="6350">
            <a:solidFill>
              <a:schemeClr val="tx2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685800" y="1508760"/>
            <a:ext cx="3566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accent5"/>
                </a:solidFill>
              </a:rPr>
              <a:t>TBP: open (Apache 2.0)</a:t>
            </a:r>
            <a:endParaRPr lang="en-US" sz="2000" dirty="0"/>
          </a:p>
        </p:txBody>
      </p:sp>
      <p:sp>
        <p:nvSpPr>
          <p:cNvPr id="5" name="Text 3"/>
          <p:cNvSpPr txBox="1"/>
          <p:nvPr/>
        </p:nvSpPr>
        <p:spPr>
          <a:xfrm>
            <a:off x="685800" y="2057400"/>
            <a:ext cx="35661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Protocol, reference implementation, selftest, deployment guides, compliance mappings. Anyone can read, run and audit it.</a:t>
            </a:r>
            <a:endParaRPr lang="en-US" sz="1500" dirty="0"/>
          </a:p>
        </p:txBody>
      </p:sp>
      <p:sp>
        <p:nvSpPr>
          <p:cNvPr id="6" name="Column 1"/>
          <p:cNvSpPr/>
          <p:nvPr/>
        </p:nvSpPr>
        <p:spPr>
          <a:xfrm>
            <a:off x="4663440" y="1371600"/>
            <a:ext cx="4023360" cy="2011680"/>
          </a:xfrm>
          <a:prstGeom prst="roundRect">
            <a:avLst>
              <a:gd name="adj" fmla="val 3636"/>
            </a:avLst>
          </a:prstGeom>
          <a:solidFill>
            <a:schemeClr val="tx2"/>
          </a:solidFill>
          <a:ln w="6350">
            <a:solidFill>
              <a:schemeClr val="tx2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4892040" y="1508760"/>
            <a:ext cx="3566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accent5"/>
                </a:solidFill>
              </a:rPr>
              <a:t>INVARIAN: Avidost's product</a:t>
            </a:r>
            <a:endParaRPr lang="en-US" sz="2000" dirty="0"/>
          </a:p>
        </p:txBody>
      </p:sp>
      <p:sp>
        <p:nvSpPr>
          <p:cNvPr id="8" name="Text 6"/>
          <p:cNvSpPr txBox="1"/>
          <p:nvPr/>
        </p:nvSpPr>
        <p:spPr>
          <a:xfrm>
            <a:off x="4892040" y="2057400"/>
            <a:ext cx="35661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Built on TBP for organizations that must demonstrate control: sensitive sectors and teams preparing for EU AI Act obligations.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457200" y="3657600"/>
            <a:ext cx="8229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bg2"/>
                </a:solidFill>
              </a:rPr>
              <a:t>Why open: a governance layer that must be trusted has to be inspectable. The evidence is executable, not a promise.</a:t>
            </a:r>
            <a:endParaRPr lang="en-US" sz="16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32004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Next: pilots, measurements, then certification</a:t>
            </a:r>
            <a:endParaRPr lang="en-US" sz="3000" dirty="0"/>
          </a:p>
        </p:txBody>
      </p:sp>
      <p:sp>
        <p:nvSpPr>
          <p:cNvPr id="3" name="Next column"/>
          <p:cNvSpPr/>
          <p:nvPr/>
        </p:nvSpPr>
        <p:spPr>
          <a:xfrm>
            <a:off x="457200" y="1188720"/>
            <a:ext cx="4023360" cy="3200400"/>
          </a:xfrm>
          <a:prstGeom prst="roundRect">
            <a:avLst>
              <a:gd name="adj" fmla="val 2286"/>
            </a:avLst>
          </a:prstGeom>
          <a:solidFill>
            <a:schemeClr val="bg2"/>
          </a:solidFill>
          <a:ln w="6350">
            <a:solidFill>
              <a:schemeClr val="bg2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640080" y="1298448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1"/>
                </a:solidFill>
              </a:rPr>
              <a:t>What the pre-seed funds</a:t>
            </a:r>
            <a:endParaRPr lang="en-US" sz="18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1737360"/>
            <a:ext cx="3657600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Scale 2 pilot on cloud, with the friction budget measured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Dynamic red-team campaign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First pilots with critical-infrastructure operators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External anchoring in production; behavioural profile across sequences</a:t>
            </a:r>
            <a:endParaRPr lang="en-US" sz="1400" dirty="0"/>
          </a:p>
        </p:txBody>
      </p:sp>
      <p:sp>
        <p:nvSpPr>
          <p:cNvPr id="6" name="Limits column"/>
          <p:cNvSpPr/>
          <p:nvPr/>
        </p:nvSpPr>
        <p:spPr>
          <a:xfrm>
            <a:off x="4663440" y="1188720"/>
            <a:ext cx="4023360" cy="3200400"/>
          </a:xfrm>
          <a:prstGeom prst="roundRect">
            <a:avLst>
              <a:gd name="adj" fmla="val 2286"/>
            </a:avLst>
          </a:prstGeom>
          <a:solidFill>
            <a:schemeClr val="bg2"/>
          </a:solidFill>
          <a:ln w="6350">
            <a:solidFill>
              <a:schemeClr val="bg2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4846320" y="1298448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3"/>
                </a:solidFill>
              </a:rPr>
              <a:t>What we state openly</a:t>
            </a:r>
            <a:endParaRPr lang="en-US" sz="1800" dirty="0"/>
          </a:p>
        </p:txBody>
      </p:sp>
      <p:sp>
        <p:nvSpPr>
          <p:cNvPr id="8" name="Text 6"/>
          <p:cNvSpPr txBox="1"/>
          <p:nvPr/>
        </p:nvSpPr>
        <p:spPr>
          <a:xfrm>
            <a:off x="4846320" y="1737360"/>
            <a:ext cx="3657600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No external certification or audit to date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TBP does not judge the model's reasoning or check facts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It protects what goes through it; it adds to, not replaces, other security controls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Validation lab and first pilots are under way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32004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Learn more</a:t>
            </a:r>
            <a:endParaRPr lang="en-US" sz="3000" dirty="0"/>
          </a:p>
        </p:txBody>
      </p:sp>
      <p:sp>
        <p:nvSpPr>
          <p:cNvPr id="3" name="Link Whitepaper"/>
          <p:cNvSpPr/>
          <p:nvPr/>
        </p:nvSpPr>
        <p:spPr>
          <a:xfrm>
            <a:off x="457200" y="1188720"/>
            <a:ext cx="8229600" cy="868680"/>
          </a:xfrm>
          <a:prstGeom prst="roundRect">
            <a:avLst>
              <a:gd name="adj" fmla="val 8421"/>
            </a:avLst>
          </a:prstGeom>
          <a:solidFill>
            <a:schemeClr val="bg2"/>
          </a:solidFill>
          <a:ln w="6350">
            <a:solidFill>
              <a:schemeClr val="bg2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685800" y="1261872"/>
            <a:ext cx="7772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Whitepaper</a:t>
            </a:r>
            <a:endParaRPr lang="en-US" sz="1800" dirty="0"/>
          </a:p>
        </p:txBody>
      </p:sp>
      <p:sp>
        <p:nvSpPr>
          <p:cNvPr id="5" name="Text 3"/>
          <p:cNvSpPr txBox="1"/>
          <p:nvPr/>
        </p:nvSpPr>
        <p:spPr>
          <a:xfrm>
            <a:off x="685800" y="1572768"/>
            <a:ext cx="7772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AI Agent Governance: Proof, Not Promises (12 pages, dated figures, sources)</a:t>
            </a:r>
            <a:endParaRPr lang="en-US" sz="1200" dirty="0"/>
          </a:p>
        </p:txBody>
      </p:sp>
      <p:sp>
        <p:nvSpPr>
          <p:cNvPr id="6" name="Text 4">
            <a:hlinkClick r:id="rId1" tooltip="Whitepaper"/>
          </p:cNvPr>
          <p:cNvSpPr txBox="1"/>
          <p:nvPr/>
        </p:nvSpPr>
        <p:spPr>
          <a:xfrm>
            <a:off x="685800" y="1792224"/>
            <a:ext cx="7772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u="sng" dirty="0">
                <a:solidFill>
                  <a:schemeClr val="accent1"/>
                </a:solidFill>
                <a:hlinkClick r:id="rId1" invalidUrl="" action="" tgtFrame="" tooltip="Whitepaper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avidost.fr/INVARIAN-Whitepaper-TBP-EN.pdf</a:t>
            </a:r>
            <a:endParaRPr lang="en-US" sz="1200" dirty="0"/>
          </a:p>
        </p:txBody>
      </p:sp>
      <p:sp>
        <p:nvSpPr>
          <p:cNvPr id="7" name="Link Open-source repository"/>
          <p:cNvSpPr/>
          <p:nvPr/>
        </p:nvSpPr>
        <p:spPr>
          <a:xfrm>
            <a:off x="457200" y="2194560"/>
            <a:ext cx="8229600" cy="868680"/>
          </a:xfrm>
          <a:prstGeom prst="roundRect">
            <a:avLst>
              <a:gd name="adj" fmla="val 8421"/>
            </a:avLst>
          </a:prstGeom>
          <a:solidFill>
            <a:schemeClr val="bg2"/>
          </a:solidFill>
          <a:ln w="6350">
            <a:solidFill>
              <a:schemeClr val="bg2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685800" y="2267712"/>
            <a:ext cx="7772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Open-source repository</a:t>
            </a:r>
            <a:endParaRPr lang="en-US" sz="1800" dirty="0"/>
          </a:p>
        </p:txBody>
      </p:sp>
      <p:sp>
        <p:nvSpPr>
          <p:cNvPr id="9" name="Text 7"/>
          <p:cNvSpPr txBox="1"/>
          <p:nvPr/>
        </p:nvSpPr>
        <p:spPr>
          <a:xfrm>
            <a:off x="685800" y="2578608"/>
            <a:ext cx="7772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TBP-NETWORK: code, selftest, deployment guides, compliance mappings (Apache 2.0)</a:t>
            </a:r>
            <a:endParaRPr lang="en-US" sz="1200" dirty="0"/>
          </a:p>
        </p:txBody>
      </p:sp>
      <p:sp>
        <p:nvSpPr>
          <p:cNvPr id="10" name="Text 8">
            <a:hlinkClick r:id="rId2" tooltip="Open-source repository"/>
          </p:cNvPr>
          <p:cNvSpPr txBox="1"/>
          <p:nvPr/>
        </p:nvSpPr>
        <p:spPr>
          <a:xfrm>
            <a:off x="685800" y="2798064"/>
            <a:ext cx="7772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u="sng" dirty="0">
                <a:solidFill>
                  <a:schemeClr val="accent1"/>
                </a:solidFill>
                <a:hlinkClick r:id="rId2" invalidUrl="" action="" tgtFrame="" tooltip="Open-source repository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github.com/philippeabraxas-jpg/TBP-NETWORK</a:t>
            </a:r>
            <a:endParaRPr lang="en-US" sz="1200" dirty="0"/>
          </a:p>
        </p:txBody>
      </p:sp>
      <p:sp>
        <p:nvSpPr>
          <p:cNvPr id="11" name="Link Avidost"/>
          <p:cNvSpPr/>
          <p:nvPr/>
        </p:nvSpPr>
        <p:spPr>
          <a:xfrm>
            <a:off x="457200" y="3200400"/>
            <a:ext cx="8229600" cy="868680"/>
          </a:xfrm>
          <a:prstGeom prst="roundRect">
            <a:avLst>
              <a:gd name="adj" fmla="val 8421"/>
            </a:avLst>
          </a:prstGeom>
          <a:solidFill>
            <a:schemeClr val="bg2"/>
          </a:solidFill>
          <a:ln w="6350">
            <a:solidFill>
              <a:schemeClr val="bg2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685800" y="3273552"/>
            <a:ext cx="7772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Avidost</a:t>
            </a:r>
            <a:endParaRPr lang="en-US" sz="1800" dirty="0"/>
          </a:p>
        </p:txBody>
      </p:sp>
      <p:sp>
        <p:nvSpPr>
          <p:cNvPr id="13" name="Text 11"/>
          <p:cNvSpPr txBox="1"/>
          <p:nvPr/>
        </p:nvSpPr>
        <p:spPr>
          <a:xfrm>
            <a:off x="685800" y="3584448"/>
            <a:ext cx="7772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The company behind INVARIAN</a:t>
            </a:r>
            <a:endParaRPr lang="en-US" sz="1200" dirty="0"/>
          </a:p>
        </p:txBody>
      </p:sp>
      <p:sp>
        <p:nvSpPr>
          <p:cNvPr id="14" name="Text 12">
            <a:hlinkClick r:id="rId3" tooltip="Avidost"/>
          </p:cNvPr>
          <p:cNvSpPr txBox="1"/>
          <p:nvPr/>
        </p:nvSpPr>
        <p:spPr>
          <a:xfrm>
            <a:off x="685800" y="3803904"/>
            <a:ext cx="7772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u="sng" dirty="0">
                <a:solidFill>
                  <a:schemeClr val="accent1"/>
                </a:solidFill>
                <a:hlinkClick r:id="rId3" invalidUrl="" action="" tgtFrame="" tooltip="Avidost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avidost.fr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32004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bg1"/>
                </a:solidFill>
              </a:rPr>
              <a:t>Proof, not promises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1371600"/>
            <a:ext cx="77724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chemeClr val="bg2"/>
                </a:solidFill>
              </a:rPr>
              <a:t>Every governed action: decided before execution, signed, timestamped, chained, verifiable by a third party.</a:t>
            </a:r>
            <a:endParaRPr lang="en-US" sz="22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3200400"/>
            <a:ext cx="82296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600" dirty="0">
                <a:solidFill>
                  <a:schemeClr val="accent5"/>
                </a:solidFill>
              </a:rPr>
              <a:t>Avidost SAS · 130 110 711 RCS Paris</a:t>
            </a:r>
            <a:endParaRPr lang="en-US" sz="16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600" dirty="0">
                <a:solidFill>
                  <a:schemeClr val="accent5"/>
                </a:solidFill>
              </a:rPr>
              <a:t>invarian.fr · info@invarian.fr</a:t>
            </a:r>
            <a:endParaRPr lang="en-US" sz="16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600" dirty="0">
                <a:solidFill>
                  <a:schemeClr val="accent5"/>
                </a:solidFill>
              </a:rPr>
              <a:t>github.com/philippeabraxas-jpg/TBP-NETWORK</a:t>
            </a:r>
            <a:endParaRPr lang="en-US" sz="16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Invarian">
  <a:themeElements>
    <a:clrScheme name="Invarian">
      <a:dk1>
        <a:srgbClr val="0F172A"/>
      </a:dk1>
      <a:lt1>
        <a:srgbClr val="FFFFFF"/>
      </a:lt1>
      <a:dk2>
        <a:srgbClr val="334155"/>
      </a:dk2>
      <a:lt2>
        <a:srgbClr val="F1F5F9"/>
      </a:lt2>
      <a:accent1>
        <a:srgbClr val="1D4ED8"/>
      </a:accent1>
      <a:accent2>
        <a:srgbClr val="047857"/>
      </a:accent2>
      <a:accent3>
        <a:srgbClr val="B45309"/>
      </a:accent3>
      <a:accent4>
        <a:srgbClr val="64748B"/>
      </a:accent4>
      <a:accent5>
        <a:srgbClr val="0EA5E9"/>
      </a:accent5>
      <a:accent6>
        <a:srgbClr val="7C3AED"/>
      </a:accent6>
      <a:hlink>
        <a:srgbClr val="1D4ED8"/>
      </a:hlink>
      <a:folHlink>
        <a:srgbClr val="64748B"/>
      </a:folHlink>
    </a:clrScheme>
    <a:fontScheme name="Invarian">
      <a:majorFont>
        <a:latin typeface="Cambr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Avidost SAS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INVARIAN — AI agent governance: proof, not promises</dc:title>
  <dc:subject>PptxGenJS Presentation</dc:subject>
  <dc:creator>Avidost SAS</dc:creator>
  <cp:lastModifiedBy>Avidost SAS</cp:lastModifiedBy>
  <cp:revision>1</cp:revision>
  <dcterms:created xsi:type="dcterms:W3CDTF">2026-10-09T10:04:16Z</dcterms:created>
  <dcterms:modified xsi:type="dcterms:W3CDTF">2026-10-09T10:04:16Z</dcterms:modified>
</cp:coreProperties>
</file>